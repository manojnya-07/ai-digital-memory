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10" r:id="rId3"/>
    <p:sldId id="415" r:id="rId4"/>
    <p:sldId id="323" r:id="rId5"/>
    <p:sldId id="319" r:id="rId6"/>
    <p:sldId id="321" r:id="rId7"/>
    <p:sldId id="322" r:id="rId8"/>
    <p:sldId id="325" r:id="rId9"/>
    <p:sldId id="326" r:id="rId10"/>
    <p:sldId id="327" r:id="rId11"/>
    <p:sldId id="328" r:id="rId12"/>
    <p:sldId id="329" r:id="rId13"/>
    <p:sldId id="330" r:id="rId14"/>
    <p:sldId id="331" r:id="rId15"/>
    <p:sldId id="332" r:id="rId16"/>
    <p:sldId id="333" r:id="rId18"/>
    <p:sldId id="334" r:id="rId19"/>
    <p:sldId id="335" r:id="rId20"/>
    <p:sldId id="375" r:id="rId21"/>
    <p:sldId id="336" r:id="rId22"/>
    <p:sldId id="337" r:id="rId23"/>
    <p:sldId id="338" r:id="rId24"/>
    <p:sldId id="339" r:id="rId25"/>
    <p:sldId id="340" r:id="rId26"/>
    <p:sldId id="341" r:id="rId27"/>
    <p:sldId id="342" r:id="rId28"/>
    <p:sldId id="343" r:id="rId29"/>
    <p:sldId id="344" r:id="rId30"/>
    <p:sldId id="346" r:id="rId31"/>
    <p:sldId id="347" r:id="rId32"/>
    <p:sldId id="348" r:id="rId33"/>
    <p:sldId id="349" r:id="rId34"/>
    <p:sldId id="350" r:id="rId35"/>
    <p:sldId id="351" r:id="rId36"/>
    <p:sldId id="352" r:id="rId37"/>
    <p:sldId id="353" r:id="rId38"/>
    <p:sldId id="354" r:id="rId39"/>
    <p:sldId id="355" r:id="rId40"/>
    <p:sldId id="356" r:id="rId41"/>
    <p:sldId id="357" r:id="rId42"/>
    <p:sldId id="324" r:id="rId43"/>
    <p:sldId id="358" r:id="rId44"/>
    <p:sldId id="359" r:id="rId45"/>
    <p:sldId id="360" r:id="rId46"/>
    <p:sldId id="361" r:id="rId47"/>
    <p:sldId id="362" r:id="rId48"/>
    <p:sldId id="363" r:id="rId49"/>
    <p:sldId id="364" r:id="rId50"/>
    <p:sldId id="365" r:id="rId51"/>
    <p:sldId id="366" r:id="rId52"/>
    <p:sldId id="367" r:id="rId53"/>
    <p:sldId id="368" r:id="rId54"/>
    <p:sldId id="369" r:id="rId55"/>
    <p:sldId id="370" r:id="rId56"/>
    <p:sldId id="371" r:id="rId57"/>
    <p:sldId id="372" r:id="rId58"/>
    <p:sldId id="373" r:id="rId59"/>
    <p:sldId id="374"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65" d="100"/>
          <a:sy n="65" d="100"/>
        </p:scale>
        <p:origin x="139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7F982-6A58-4AEE-9D45-3220FA0F498E}"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D50AB1-5F87-4FD7-9AE8-71F44B9C52F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D50AB1-5F87-4FD7-9AE8-71F44B9C52F5}"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1EF2D1-F98D-4E43-89A1-C07A8D3DEC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1EF2D1-F98D-4E43-89A1-C07A8D3DEC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E1EF2D1-F98D-4E43-89A1-C07A8D3DEC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E1EF2D1-F98D-4E43-89A1-C07A8D3DEC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E1EF2D1-F98D-4E43-89A1-C07A8D3DECC1}"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1EF2D1-F98D-4E43-89A1-C07A8D3DECC1}"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1EF2D1-F98D-4E43-89A1-C07A8D3DECC1}"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E1EF2D1-F98D-4E43-89A1-C07A8D3DEC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E1EF2D1-F98D-4E43-89A1-C07A8D3DECC1}"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1EF2D1-F98D-4E43-89A1-C07A8D3DEC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E1EF2D1-F98D-4E43-89A1-C07A8D3DECC1}"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A5C8CE-333B-4358-B0F2-8610CBE83CD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EF2D1-F98D-4E43-89A1-C07A8D3DECC1}" type="datetimeFigureOut">
              <a:rPr lang="en-IN" smtClean="0"/>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5C8CE-333B-4358-B0F2-8610CBE83CD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www.programiz.com/c-programming/library-function/strcmp" TargetMode="External"/><Relationship Id="rId3" Type="http://schemas.openxmlformats.org/officeDocument/2006/relationships/hyperlink" Target="https://www.programiz.com/c-programming/library-function/strcat" TargetMode="External"/><Relationship Id="rId2" Type="http://schemas.openxmlformats.org/officeDocument/2006/relationships/hyperlink" Target="https://www.programiz.com/c-programming/library-function/strcpy" TargetMode="External"/><Relationship Id="rId1" Type="http://schemas.openxmlformats.org/officeDocument/2006/relationships/hyperlink" Target="https://www.programiz.com/c-programming/library-function/strle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146160" y="6210360"/>
            <a:ext cx="456840" cy="456840"/>
          </a:xfrm>
          <a:prstGeom prst="rect">
            <a:avLst/>
          </a:prstGeom>
        </p:spPr>
        <p:txBody>
          <a:bodyPr lIns="0" tIns="0" rIns="0" bIns="0" anchor="ctr" anchorCtr="1"/>
          <a:lstStyle/>
          <a:p>
            <a:pPr>
              <a:lnSpc>
                <a:spcPct val="100000"/>
              </a:lnSpc>
            </a:pPr>
            <a:fld id="{5B30142B-3B85-4DFF-BFFF-A1E4B641A080}" type="slidenum">
              <a:rPr lang="en-US" sz="1400">
                <a:solidFill>
                  <a:srgbClr val="FFFFFF"/>
                </a:solidFill>
                <a:latin typeface="Franklin Gothic Book" panose="020B0503020102020204"/>
              </a:rPr>
            </a:fld>
            <a:endParaRPr lang="en-US" sz="1400">
              <a:solidFill>
                <a:srgbClr val="FFFFFF"/>
              </a:solidFill>
              <a:latin typeface="Franklin Gothic Book" panose="020B0503020102020204"/>
            </a:endParaRPr>
          </a:p>
        </p:txBody>
      </p:sp>
      <p:sp>
        <p:nvSpPr>
          <p:cNvPr id="133" name="CustomShape 2"/>
          <p:cNvSpPr/>
          <p:nvPr/>
        </p:nvSpPr>
        <p:spPr>
          <a:xfrm>
            <a:off x="8039160" y="6400800"/>
            <a:ext cx="183960" cy="366480"/>
          </a:xfrm>
          <a:prstGeom prst="rect">
            <a:avLst/>
          </a:prstGeom>
        </p:spPr>
      </p:sp>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marL="0" indent="0" algn="ctr" defTabSz="266700">
              <a:spcAft>
                <a:spcPct val="0"/>
              </a:spcAft>
            </a:pPr>
            <a:r>
              <a:rPr b="1">
                <a:latin typeface="Arial Black" panose="020B0A04020102020204" charset="0"/>
                <a:ea typeface="Times New Roman" panose="02020603050405020304"/>
                <a:cs typeface="Arial Black" panose="020B0A04020102020204" charset="0"/>
                <a:sym typeface="+mn-ea"/>
              </a:rPr>
              <a:t> (Conditional Branching </a:t>
            </a:r>
            <a:r>
              <a:rPr lang="en-US" b="1">
                <a:latin typeface="Arial Black" panose="020B0A04020102020204" charset="0"/>
                <a:ea typeface="Times New Roman" panose="02020603050405020304"/>
                <a:cs typeface="Arial Black" panose="020B0A04020102020204" charset="0"/>
                <a:sym typeface="+mn-ea"/>
              </a:rPr>
              <a:t>a</a:t>
            </a:r>
            <a:r>
              <a:rPr b="1">
                <a:latin typeface="Arial Black" panose="020B0A04020102020204" charset="0"/>
                <a:ea typeface="Times New Roman" panose="02020603050405020304"/>
                <a:cs typeface="Arial Black" panose="020B0A04020102020204" charset="0"/>
                <a:sym typeface="+mn-ea"/>
              </a:rPr>
              <a:t>nd Loops, Arrays, Strings)</a:t>
            </a:r>
          </a:p>
        </p:txBody>
      </p:sp>
      <p:sp>
        <p:nvSpPr>
          <p:cNvPr id="2" name="Text Box 1"/>
          <p:cNvSpPr txBox="1"/>
          <p:nvPr/>
        </p:nvSpPr>
        <p:spPr>
          <a:xfrm>
            <a:off x="541020" y="1586230"/>
            <a:ext cx="8416925" cy="3923030"/>
          </a:xfrm>
          <a:prstGeom prst="rect">
            <a:avLst/>
          </a:prstGeom>
        </p:spPr>
        <p:txBody>
          <a:bodyPr wrap="square">
            <a:noAutofit/>
          </a:bodyPr>
          <a:p>
            <a:pPr marL="0" indent="0" algn="ctr" defTabSz="266700">
              <a:spcAft>
                <a:spcPct val="0"/>
              </a:spcAft>
            </a:pPr>
            <a:r>
              <a:rPr sz="2800" b="1">
                <a:latin typeface="Arial Black" panose="020B0A04020102020204" charset="0"/>
                <a:ea typeface="Times New Roman" panose="02020603050405020304"/>
                <a:cs typeface="Arial Black" panose="020B0A04020102020204" charset="0"/>
              </a:rPr>
              <a:t>UNIT – II</a:t>
            </a:r>
            <a:endParaRPr sz="2800" b="1">
              <a:latin typeface="Arial Black" panose="020B0A04020102020204" charset="0"/>
              <a:ea typeface="Times New Roman" panose="02020603050405020304"/>
              <a:cs typeface="Arial Black" panose="020B0A04020102020204" charset="0"/>
            </a:endParaRPr>
          </a:p>
          <a:p>
            <a:pPr marL="114300" indent="0" algn="just" defTabSz="266700">
              <a:lnSpc>
                <a:spcPct val="114000"/>
              </a:lnSpc>
              <a:spcAft>
                <a:spcPct val="0"/>
              </a:spcAft>
            </a:pPr>
            <a:r>
              <a:rPr sz="2400" b="1">
                <a:latin typeface="Times New Roman" panose="02020603050405020304"/>
                <a:ea typeface="Times New Roman" panose="02020603050405020304"/>
                <a:sym typeface="+mn-ea"/>
              </a:rPr>
              <a:t>Conditional Branching and Loops</a:t>
            </a:r>
            <a:r>
              <a:rPr sz="2400">
                <a:latin typeface="Times New Roman" panose="02020603050405020304"/>
                <a:ea typeface="Times New Roman" panose="02020603050405020304"/>
                <a:sym typeface="+mn-ea"/>
              </a:rPr>
              <a:t>: Writing and Evaluation of Conditionals with If, If-Else, else-if ladder Switch-Case, goto, Iteration with For, While, Do While Loops</a:t>
            </a:r>
            <a:endParaRPr sz="2400">
              <a:latin typeface="Times New Roman" panose="02020603050405020304"/>
              <a:ea typeface="Times New Roman" panose="02020603050405020304"/>
            </a:endParaRPr>
          </a:p>
          <a:p>
            <a:pPr marL="114300" indent="0" algn="just" defTabSz="266700">
              <a:lnSpc>
                <a:spcPct val="114000"/>
              </a:lnSpc>
              <a:spcAft>
                <a:spcPct val="0"/>
              </a:spcAft>
            </a:pPr>
            <a:r>
              <a:rPr sz="2400" b="1">
                <a:latin typeface="Times New Roman" panose="02020603050405020304"/>
                <a:ea typeface="Times New Roman" panose="02020603050405020304"/>
                <a:sym typeface="+mn-ea"/>
              </a:rPr>
              <a:t>Arrays</a:t>
            </a:r>
            <a:r>
              <a:rPr sz="2400">
                <a:latin typeface="Times New Roman" panose="02020603050405020304"/>
                <a:ea typeface="Times New Roman" panose="02020603050405020304"/>
                <a:sym typeface="+mn-ea"/>
              </a:rPr>
              <a:t>: One-Two-Dimensional Arrays, Creating, Accessing and Manipulating Elements of Arrays. </a:t>
            </a:r>
            <a:endParaRPr sz="2400">
              <a:latin typeface="Times New Roman" panose="02020603050405020304"/>
              <a:ea typeface="Times New Roman" panose="02020603050405020304"/>
            </a:endParaRPr>
          </a:p>
          <a:p>
            <a:pPr marL="114300" indent="0" algn="just" defTabSz="266700">
              <a:lnSpc>
                <a:spcPct val="114000"/>
              </a:lnSpc>
              <a:spcAft>
                <a:spcPct val="0"/>
              </a:spcAft>
            </a:pPr>
            <a:r>
              <a:rPr sz="2400" b="1">
                <a:latin typeface="Times New Roman" panose="02020603050405020304"/>
                <a:ea typeface="Times New Roman" panose="02020603050405020304"/>
                <a:sym typeface="+mn-ea"/>
              </a:rPr>
              <a:t>Strings:</a:t>
            </a:r>
            <a:r>
              <a:rPr sz="2400">
                <a:latin typeface="Times New Roman" panose="02020603050405020304"/>
                <a:ea typeface="Times New Roman" panose="02020603050405020304"/>
                <a:sym typeface="+mn-ea"/>
              </a:rPr>
              <a:t> Introduction To Strings, Handling Strings as Array of Characters, Basic String Functions available in C (Strlen, Strcat, Strcpy, Strstr Etc.), Arrays of Strings.</a:t>
            </a:r>
            <a:endParaRPr sz="2400">
              <a:latin typeface="Times New Roman" panose="02020603050405020304"/>
              <a:ea typeface="Times New Roman" panose="02020603050405020304"/>
            </a:endParaRPr>
          </a:p>
          <a:p>
            <a:pPr marL="0" indent="0" algn="ctr" defTabSz="266700">
              <a:spcAft>
                <a:spcPct val="0"/>
              </a:spcAft>
            </a:pPr>
            <a:endParaRPr sz="2400" b="1">
              <a:latin typeface="Times New Roman" panose="02020603050405020304"/>
              <a:ea typeface="Times New Roman" panose="02020603050405020304"/>
              <a:cs typeface="Arial Black" panose="020B0A040201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Conditional Statements</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8851692" cy="3785652"/>
          </a:xfrm>
          <a:prstGeom prst="rect">
            <a:avLst/>
          </a:prstGeom>
        </p:spPr>
        <p:txBody>
          <a:bodyPr wrap="square">
            <a:spAutoFit/>
          </a:bodyPr>
          <a:lstStyle/>
          <a:p>
            <a:pPr marL="34290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Conditional Statements/Decision-making </a:t>
            </a:r>
            <a:r>
              <a:rPr lang="en-IN" sz="2400" dirty="0">
                <a:latin typeface="Times New Roman" panose="02020603050405020304" pitchFamily="18" charset="0"/>
                <a:cs typeface="Times New Roman" panose="02020603050405020304" pitchFamily="18" charset="0"/>
              </a:rPr>
              <a:t>statements are the statements that are used to verify a given condition and decide whether a block of statements gets executed or not based on the condition result.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the c programming language, there are two decision-making statements they are as follows.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if statement</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switch statement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Conditional Statements</a:t>
            </a:r>
            <a:endParaRPr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7304" y="1017279"/>
            <a:ext cx="8849032" cy="55394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if statement in C</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8851692" cy="5011949"/>
          </a:xfrm>
          <a:prstGeom prst="rect">
            <a:avLst/>
          </a:prstGeom>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if</a:t>
            </a:r>
            <a:r>
              <a:rPr lang="en-IN" sz="2400" dirty="0">
                <a:latin typeface="Times New Roman" panose="02020603050405020304" pitchFamily="18" charset="0"/>
                <a:cs typeface="Times New Roman" panose="02020603050405020304" pitchFamily="18" charset="0"/>
              </a:rPr>
              <a:t> statement is used to make decisions based on a condition. The if statement verifies the given </a:t>
            </a:r>
            <a:r>
              <a:rPr lang="en-IN" sz="2400" b="1" dirty="0">
                <a:latin typeface="Times New Roman" panose="02020603050405020304" pitchFamily="18" charset="0"/>
                <a:cs typeface="Times New Roman" panose="02020603050405020304" pitchFamily="18" charset="0"/>
              </a:rPr>
              <a:t>condition</a:t>
            </a:r>
            <a:r>
              <a:rPr lang="en-IN" sz="2400" dirty="0">
                <a:latin typeface="Times New Roman" panose="02020603050405020304" pitchFamily="18" charset="0"/>
                <a:cs typeface="Times New Roman" panose="02020603050405020304" pitchFamily="18" charset="0"/>
              </a:rPr>
              <a:t> and decides whether a block of statements are executed or not based on the condition result. </a:t>
            </a:r>
            <a:endParaRPr lang="en-IN" sz="2400" dirty="0">
              <a:latin typeface="Times New Roman" panose="02020603050405020304" pitchFamily="18" charset="0"/>
              <a:cs typeface="Times New Roman" panose="02020603050405020304" pitchFamily="18" charset="0"/>
            </a:endParaRPr>
          </a:p>
          <a:p>
            <a:pPr algn="just">
              <a:lnSpc>
                <a:spcPct val="150000"/>
              </a:lnSpc>
            </a:pP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In c, if statement is classified into four types as follows...</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Simple if statement</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if-else statement</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Nested if statement</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if-else-if statement (if-else ladder)</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Simple if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398206" y="2274838"/>
            <a:ext cx="3644181" cy="2308324"/>
          </a:xfrm>
          <a:prstGeom prst="rect">
            <a:avLst/>
          </a:prstGeom>
          <a:ln w="57150">
            <a:solidFill>
              <a:schemeClr val="tx1"/>
            </a:solidFill>
          </a:ln>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if(condition)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Statements to execute if</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condition is true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1027" name="Picture 3" descr="if-statement-in-jav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1820" y="1097153"/>
            <a:ext cx="4173974" cy="5591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Simple if statement- 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8851692" cy="4524315"/>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 C program to illustrate If statement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10;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if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&gt; 15)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("10 is less than 15");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("I am Not in if");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If-else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3835911" cy="4524315"/>
          </a:xfrm>
          <a:prstGeom prst="rect">
            <a:avLst/>
          </a:prstGeom>
          <a:ln w="57150">
            <a:solidFill>
              <a:schemeClr val="tx1"/>
            </a:solidFill>
          </a:ln>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(condition)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Executes this block if</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condition is true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else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Executes this block if</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condition is false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2050" name="Picture 2" descr="if-else-statemen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54012" y="1097153"/>
            <a:ext cx="4543833" cy="51332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If-else statement-Example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8851692" cy="526297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 C program to illustrate If statement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20;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if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15)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is smaller than 15");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else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is greater than 15");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Nested if-else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49393" y="1164763"/>
            <a:ext cx="3570440" cy="5509200"/>
          </a:xfrm>
          <a:prstGeom prst="rect">
            <a:avLst/>
          </a:prstGeom>
          <a:ln w="57150">
            <a:solidFill>
              <a:schemeClr val="tx1"/>
            </a:solidFill>
          </a:ln>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if( condition 1 )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if(condition 2 )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1;</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else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2;</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else</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3;</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pic>
        <p:nvPicPr>
          <p:cNvPr id="1026" name="Picture 2" descr="Nested if-else statement in C-language - C-Tutoria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4284" y="1164763"/>
            <a:ext cx="4635756" cy="550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Nested if-else statement-Example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10245"/>
            <a:ext cx="4425846" cy="5847755"/>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#include &lt;</a:t>
            </a:r>
            <a:r>
              <a:rPr lang="en-IN" sz="2200" dirty="0" err="1">
                <a:latin typeface="Times New Roman" panose="02020603050405020304" pitchFamily="18" charset="0"/>
                <a:cs typeface="Times New Roman" panose="02020603050405020304" pitchFamily="18" charset="0"/>
              </a:rPr>
              <a:t>stdio.h</a:t>
            </a:r>
            <a:r>
              <a:rPr lang="en-IN" sz="2200" dirty="0">
                <a:latin typeface="Times New Roman" panose="02020603050405020304" pitchFamily="18" charset="0"/>
                <a:cs typeface="Times New Roman" panose="02020603050405020304" pitchFamily="18" charset="0"/>
              </a:rPr>
              <a:t>&gt;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void main(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int a, b, c;</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("Enter 3 numbers...");</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scanf</a:t>
            </a: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d%d%d</a:t>
            </a:r>
            <a:r>
              <a:rPr lang="en-IN" sz="2200" dirty="0">
                <a:latin typeface="Times New Roman" panose="02020603050405020304" pitchFamily="18" charset="0"/>
                <a:cs typeface="Times New Roman" panose="02020603050405020304" pitchFamily="18" charset="0"/>
              </a:rPr>
              <a:t>",&amp;a, &amp;b, &amp;c);</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if(a &gt; b)</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if(a &gt; c)</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("a is the greatest");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else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("c is the greatest");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
        <p:nvSpPr>
          <p:cNvPr id="2" name="Rectangle 1"/>
          <p:cNvSpPr/>
          <p:nvPr/>
        </p:nvSpPr>
        <p:spPr>
          <a:xfrm>
            <a:off x="4661820" y="1351508"/>
            <a:ext cx="4336026" cy="4154984"/>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 else</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if(b &gt; c)</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("b is the greatest");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else</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("c is the greatest");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if-else-if ladder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49393" y="1164763"/>
            <a:ext cx="3024749" cy="5539978"/>
          </a:xfrm>
          <a:prstGeom prst="rect">
            <a:avLst/>
          </a:prstGeom>
          <a:ln w="57150">
            <a:solidFill>
              <a:schemeClr val="tx1"/>
            </a:solidFill>
          </a:ln>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if(Condition 1)</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block1;</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else if(Condition 2)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block2;</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else if(Condition 3 )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statement block3;</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else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default statement;</a:t>
            </a:r>
            <a:endParaRPr lang="en-IN" sz="2200" dirty="0">
              <a:latin typeface="Times New Roman" panose="02020603050405020304" pitchFamily="18" charset="0"/>
              <a:cs typeface="Times New Roman" panose="02020603050405020304" pitchFamily="18" charset="0"/>
            </a:endParaRPr>
          </a:p>
        </p:txBody>
      </p:sp>
      <p:pic>
        <p:nvPicPr>
          <p:cNvPr id="2052" name="Picture 4" descr="Decision Making Statements In Pyth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1626" y="1017639"/>
            <a:ext cx="5604387" cy="5604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if-else-if ladder statement-Example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3" y="1010245"/>
            <a:ext cx="5060027" cy="4832092"/>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#include &lt;</a:t>
            </a:r>
            <a:r>
              <a:rPr lang="en-IN" sz="2200" dirty="0" err="1">
                <a:latin typeface="Times New Roman" panose="02020603050405020304" pitchFamily="18" charset="0"/>
                <a:cs typeface="Times New Roman" panose="02020603050405020304" pitchFamily="18" charset="0"/>
              </a:rPr>
              <a:t>stdio.h</a:t>
            </a:r>
            <a:r>
              <a:rPr lang="en-IN" sz="2200" dirty="0">
                <a:latin typeface="Times New Roman" panose="02020603050405020304" pitchFamily="18" charset="0"/>
                <a:cs typeface="Times New Roman" panose="02020603050405020304" pitchFamily="18" charset="0"/>
              </a:rPr>
              <a:t>&gt;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void main(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int a;</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("Enter a number...");</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scanf</a:t>
            </a:r>
            <a:r>
              <a:rPr lang="en-IN" sz="2200" dirty="0">
                <a:latin typeface="Times New Roman" panose="02020603050405020304" pitchFamily="18" charset="0"/>
                <a:cs typeface="Times New Roman" panose="02020603050405020304" pitchFamily="18" charset="0"/>
              </a:rPr>
              <a:t>("%d", &amp;a);</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if(a%5 == 0 &amp;&amp; a%8 == 0)</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("Divisible by both 5 and 8");</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else if(a%8 == 0)</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("Divisible by 8");</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
        <p:nvSpPr>
          <p:cNvPr id="3" name="Rectangle 2"/>
          <p:cNvSpPr/>
          <p:nvPr/>
        </p:nvSpPr>
        <p:spPr>
          <a:xfrm>
            <a:off x="5043948" y="1856630"/>
            <a:ext cx="3953899" cy="3139321"/>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else if(a%5 == 0)</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("Divisible by 5");</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else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("Divisible by none");</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Switch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3" y="1010245"/>
            <a:ext cx="8717628" cy="33499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Switch</a:t>
            </a:r>
            <a:r>
              <a:rPr lang="en-IN" sz="2400" dirty="0">
                <a:latin typeface="Times New Roman" panose="02020603050405020304" pitchFamily="18" charset="0"/>
                <a:cs typeface="Times New Roman" panose="02020603050405020304" pitchFamily="18" charset="0"/>
              </a:rPr>
              <a:t> statement is a control statement that allows us to choose only one choice among the many given choices.</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The expression in switch evaluates is compared to the values present in different cases.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executes that block of code which matches the case value.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there is no match, then default block is executed(if present).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Switch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49393" y="1017639"/>
            <a:ext cx="3172233" cy="5632311"/>
          </a:xfrm>
          <a:prstGeom prst="rect">
            <a:avLst/>
          </a:prstGeom>
          <a:ln w="57150">
            <a:solidFill>
              <a:schemeClr val="tx1"/>
            </a:solidFill>
          </a:ln>
        </p:spPr>
        <p:txBody>
          <a:bodyPr wrap="square">
            <a:spAutoFit/>
          </a:bodyPr>
          <a:lstStyle/>
          <a:p>
            <a:pPr algn="just"/>
            <a:r>
              <a:rPr lang="en-IN" sz="2000" dirty="0">
                <a:latin typeface="Times New Roman" panose="02020603050405020304" pitchFamily="18" charset="0"/>
                <a:cs typeface="Times New Roman" panose="02020603050405020304" pitchFamily="18" charset="0"/>
              </a:rPr>
              <a:t>switch(expression)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value-1:</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block-1;</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value-2: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block-2;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value-3:</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block-3;</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value-4:</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block-4;</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default: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default-block;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pic>
        <p:nvPicPr>
          <p:cNvPr id="3075" name="Picture 3" descr="Switch Case statements in C - Full explanation with examples and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98351" y="1017639"/>
            <a:ext cx="5012914" cy="56323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Switch Statement Rules</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3349956"/>
          </a:xfrm>
          <a:prstGeom prst="rect">
            <a:avLst/>
          </a:prstGeom>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1) The switch expression must be of an integer or character type.</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2) The case value must be an integer or character constant.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3) The case value can be used only inside the switch statement.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4) The break statement in switch case is not must. It is optional. If there is no break statement found in the case, all the cases will be executed present after the matched case.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Switch Statement 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024994"/>
            <a:ext cx="8717628" cy="5324535"/>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#include &lt;</a:t>
            </a:r>
            <a:r>
              <a:rPr lang="en-IN" sz="2000" dirty="0" err="1">
                <a:latin typeface="Times New Roman" panose="02020603050405020304" pitchFamily="18" charset="0"/>
                <a:cs typeface="Times New Roman" panose="02020603050405020304" pitchFamily="18" charset="0"/>
              </a:rPr>
              <a:t>stdio.h</a:t>
            </a:r>
            <a:r>
              <a:rPr lang="en-IN" sz="2000" dirty="0">
                <a:latin typeface="Times New Roman" panose="02020603050405020304" pitchFamily="18" charset="0"/>
                <a:cs typeface="Times New Roman" panose="02020603050405020304" pitchFamily="18" charset="0"/>
              </a:rPr>
              <a:t>&gt;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int main()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char operator;</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int n1, n2;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an operator (+, -, *, /):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scanf</a:t>
            </a:r>
            <a:r>
              <a:rPr lang="en-IN" sz="2000" dirty="0">
                <a:latin typeface="Times New Roman" panose="02020603050405020304" pitchFamily="18" charset="0"/>
                <a:cs typeface="Times New Roman" panose="02020603050405020304" pitchFamily="18" charset="0"/>
              </a:rPr>
              <a:t>("%c", &amp;operator);</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two operands: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scanf</a:t>
            </a:r>
            <a:r>
              <a:rPr lang="en-IN" sz="2000" dirty="0">
                <a:latin typeface="Times New Roman" panose="02020603050405020304" pitchFamily="18" charset="0"/>
                <a:cs typeface="Times New Roman" panose="02020603050405020304" pitchFamily="18" charset="0"/>
              </a:rPr>
              <a:t>("%d %d",&amp;n1, &amp;n2);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switch(operator)</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("%d + %d = %d",n1, n2, n1+n2);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case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("%d - %d = %d",n1, n2, n1-n2);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4572001" y="1228397"/>
            <a:ext cx="4571639" cy="3477875"/>
          </a:xfrm>
          <a:prstGeom prst="rect">
            <a:avLst/>
          </a:prstGeom>
        </p:spPr>
        <p:txBody>
          <a:bodyPr wrap="square">
            <a:spAutoFit/>
          </a:bodyPr>
          <a:lstStyle/>
          <a:p>
            <a:r>
              <a:rPr lang="en-IN" sz="2000" dirty="0">
                <a:latin typeface="Times New Roman" panose="02020603050405020304" pitchFamily="18" charset="0"/>
                <a:cs typeface="Times New Roman" panose="02020603050405020304" pitchFamily="18" charset="0"/>
              </a:rPr>
              <a:t> case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("%d * %d = %d",n1, n2, n1*n2);</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case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("%d / %d = %d",n1, n2, n1/n2);</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break;</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default: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("Error! operator is not correct");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return 0;</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t>
            </a:r>
            <a:endParaRPr lang="en-IN"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Iterative Statements/ Loops</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5" y="1024994"/>
            <a:ext cx="8754013" cy="4893647"/>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A loop is used to repeat a block of code until the specified condition is met. Using loops we do not need to write the same code again and again.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 programming has three types of loops: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while loop</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do...while loop</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loop</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These loops controlled either at entry level or at exit level hence loops can be controlled two ways:</a:t>
            </a:r>
            <a:endParaRPr lang="en-IN" sz="2400" dirty="0">
              <a:latin typeface="Times New Roman" panose="02020603050405020304" pitchFamily="18" charset="0"/>
              <a:cs typeface="Times New Roman" panose="02020603050405020304" pitchFamily="18" charset="0"/>
            </a:endParaRPr>
          </a:p>
          <a:p>
            <a:pPr algn="l">
              <a:buFont typeface="+mj-lt"/>
              <a:buAutoNum type="arabicPeriod"/>
            </a:pPr>
            <a:r>
              <a:rPr lang="en-IN" sz="2400" dirty="0">
                <a:latin typeface="Times New Roman" panose="02020603050405020304" pitchFamily="18" charset="0"/>
                <a:cs typeface="Times New Roman" panose="02020603050405020304" pitchFamily="18" charset="0"/>
              </a:rPr>
              <a:t>Entry Controlled Loop</a:t>
            </a:r>
            <a:endParaRPr lang="en-IN" sz="2400" dirty="0">
              <a:latin typeface="Times New Roman" panose="02020603050405020304" pitchFamily="18" charset="0"/>
              <a:cs typeface="Times New Roman" panose="02020603050405020304" pitchFamily="18" charset="0"/>
            </a:endParaRPr>
          </a:p>
          <a:p>
            <a:pPr algn="l">
              <a:buFont typeface="+mj-lt"/>
              <a:buAutoNum type="arabicPeriod"/>
            </a:pPr>
            <a:r>
              <a:rPr lang="en-IN" sz="2400" dirty="0">
                <a:latin typeface="Times New Roman" panose="02020603050405020304" pitchFamily="18" charset="0"/>
                <a:cs typeface="Times New Roman" panose="02020603050405020304" pitchFamily="18" charset="0"/>
              </a:rPr>
              <a:t>Exit Controlled Loop</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Iterative Statements/ Loops</a:t>
            </a:r>
            <a:endParaRPr lang="en-IN" sz="4000" b="1"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199" y="3332770"/>
            <a:ext cx="8273845" cy="3383553"/>
          </a:xfrm>
          <a:prstGeom prst="rect">
            <a:avLst/>
          </a:prstGeom>
        </p:spPr>
      </p:pic>
      <p:sp>
        <p:nvSpPr>
          <p:cNvPr id="10" name="TextBox 9"/>
          <p:cNvSpPr txBox="1"/>
          <p:nvPr/>
        </p:nvSpPr>
        <p:spPr>
          <a:xfrm>
            <a:off x="151170" y="1024446"/>
            <a:ext cx="8830598" cy="2308324"/>
          </a:xfrm>
          <a:prstGeom prst="rect">
            <a:avLst/>
          </a:prstGeom>
          <a:noFill/>
        </p:spPr>
        <p:txBody>
          <a:bodyPr wrap="square">
            <a:spAutoFit/>
          </a:bodyPr>
          <a:lstStyle/>
          <a:p>
            <a:pPr algn="just"/>
            <a:r>
              <a:rPr lang="en-IN" sz="2400" b="1" i="0" u="none" strike="noStrike" dirty="0">
                <a:solidFill>
                  <a:srgbClr val="222222"/>
                </a:solidFill>
                <a:effectLst/>
                <a:latin typeface="Times New Roman" panose="02020603050405020304" pitchFamily="18" charset="0"/>
                <a:cs typeface="Times New Roman" panose="02020603050405020304" pitchFamily="18" charset="0"/>
              </a:rPr>
              <a:t>Entry Controlled Loop</a:t>
            </a:r>
            <a:endParaRPr lang="en-IN" sz="2400" b="1" i="0" u="none" strike="noStrike" dirty="0">
              <a:solidFill>
                <a:srgbClr val="222222"/>
              </a:solidFill>
              <a:effectLst/>
              <a:latin typeface="Times New Roman" panose="02020603050405020304" pitchFamily="18" charset="0"/>
              <a:cs typeface="Times New Roman" panose="02020603050405020304" pitchFamily="18" charset="0"/>
            </a:endParaRPr>
          </a:p>
          <a:p>
            <a:pPr algn="just"/>
            <a:r>
              <a:rPr lang="en-IN" sz="2400" i="0" dirty="0">
                <a:solidFill>
                  <a:srgbClr val="000000"/>
                </a:solidFill>
                <a:effectLst/>
                <a:latin typeface="Times New Roman" panose="02020603050405020304" pitchFamily="18" charset="0"/>
                <a:cs typeface="Times New Roman" panose="02020603050405020304" pitchFamily="18" charset="0"/>
              </a:rPr>
              <a:t>Loop, where test condition is checked before entering the loop body, known as Entry Controlled Loop. Example: while loop, for loop</a:t>
            </a:r>
            <a:endParaRPr lang="en-IN" sz="2400" i="0" dirty="0">
              <a:solidFill>
                <a:srgbClr val="000000"/>
              </a:solidFill>
              <a:effectLst/>
              <a:latin typeface="Times New Roman" panose="02020603050405020304" pitchFamily="18" charset="0"/>
              <a:cs typeface="Times New Roman" panose="02020603050405020304" pitchFamily="18" charset="0"/>
            </a:endParaRPr>
          </a:p>
          <a:p>
            <a:pPr algn="just"/>
            <a:r>
              <a:rPr lang="en-IN" sz="2400" b="1" i="0" u="none" strike="noStrike" dirty="0">
                <a:solidFill>
                  <a:srgbClr val="222222"/>
                </a:solidFill>
                <a:effectLst/>
                <a:latin typeface="Times New Roman" panose="02020603050405020304" pitchFamily="18" charset="0"/>
                <a:cs typeface="Times New Roman" panose="02020603050405020304" pitchFamily="18" charset="0"/>
              </a:rPr>
              <a:t>Exit Controlled Loop</a:t>
            </a:r>
            <a:endParaRPr lang="en-IN" sz="2400" b="1" i="0" u="none" strike="noStrike" dirty="0">
              <a:solidFill>
                <a:srgbClr val="222222"/>
              </a:solidFill>
              <a:effectLst/>
              <a:latin typeface="Times New Roman" panose="02020603050405020304" pitchFamily="18" charset="0"/>
              <a:cs typeface="Times New Roman" panose="02020603050405020304" pitchFamily="18" charset="0"/>
            </a:endParaRPr>
          </a:p>
          <a:p>
            <a:pPr algn="just"/>
            <a:r>
              <a:rPr lang="en-IN" sz="2400" i="0" dirty="0">
                <a:solidFill>
                  <a:srgbClr val="000000"/>
                </a:solidFill>
                <a:effectLst/>
                <a:latin typeface="Times New Roman" panose="02020603050405020304" pitchFamily="18" charset="0"/>
                <a:cs typeface="Times New Roman" panose="02020603050405020304" pitchFamily="18" charset="0"/>
              </a:rPr>
              <a:t>Loop, where test condition is checked after executing the loop body, known as Exit Controlled Loop. Example: do while loop</a:t>
            </a:r>
            <a:endParaRPr lang="en-IN" sz="240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While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390395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while</a:t>
            </a:r>
            <a:r>
              <a:rPr lang="en-IN" sz="2400" dirty="0">
                <a:latin typeface="Times New Roman" panose="02020603050405020304" pitchFamily="18" charset="0"/>
                <a:cs typeface="Times New Roman" panose="02020603050405020304" pitchFamily="18" charset="0"/>
              </a:rPr>
              <a:t> loop is addressed as entry controlled loop/ </a:t>
            </a:r>
            <a:r>
              <a:rPr lang="en-IN" sz="2400" dirty="0" err="1">
                <a:latin typeface="Times New Roman" panose="02020603050405020304" pitchFamily="18" charset="0"/>
                <a:cs typeface="Times New Roman" panose="02020603050405020304" pitchFamily="18" charset="0"/>
              </a:rPr>
              <a:t>pretest</a:t>
            </a:r>
            <a:r>
              <a:rPr lang="en-IN" sz="2400" dirty="0">
                <a:latin typeface="Times New Roman" panose="02020603050405020304" pitchFamily="18" charset="0"/>
                <a:cs typeface="Times New Roman" panose="02020603050405020304" pitchFamily="18" charset="0"/>
              </a:rPr>
              <a:t> loop.</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while loop evaluates the test expression inside the parenthesis ().</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 test expression is true, statements inside the body of while loop are executed. Then, the test expression is evaluated again.</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process goes on until the test expression is evaluated to false.</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 test expression is false, the loop terminates (ends).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While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42504" y="1718168"/>
            <a:ext cx="3429846" cy="2795958"/>
          </a:xfrm>
          <a:prstGeom prst="rect">
            <a:avLst/>
          </a:prstGeom>
          <a:ln w="57150">
            <a:solidFill>
              <a:schemeClr val="tx1"/>
            </a:solidFill>
          </a:ln>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while (</a:t>
            </a:r>
            <a:r>
              <a:rPr lang="en-IN" sz="2400" dirty="0" err="1">
                <a:latin typeface="Times New Roman" panose="02020603050405020304" pitchFamily="18" charset="0"/>
                <a:cs typeface="Times New Roman" panose="02020603050405020304" pitchFamily="18" charset="0"/>
              </a:rPr>
              <a:t>testExpression</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    // body of the loop </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122" name="Picture 2" descr="flowchart of while loop in C programm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26310" y="1326994"/>
            <a:ext cx="4689987" cy="45428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While Loop-Example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4524315"/>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 Print numbers from 1 to 5</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while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5)</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("%d\n",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do-while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44579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do...while</a:t>
            </a:r>
            <a:r>
              <a:rPr lang="en-IN" sz="2400" dirty="0">
                <a:latin typeface="Times New Roman" panose="02020603050405020304" pitchFamily="18" charset="0"/>
                <a:cs typeface="Times New Roman" panose="02020603050405020304" pitchFamily="18" charset="0"/>
              </a:rPr>
              <a:t> loop is addressed as exit controlled loop/ post test loop</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body of do...while loop is executed at least once. Only then, the test expression is evaluated.</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 test expression is true, the body of the loop is executed again and the test expression is evaluated.</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process goes on until the test expression becomes false.</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 test expression is false, the loop ends.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do-while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42504" y="1718168"/>
            <a:ext cx="3429846" cy="3349956"/>
          </a:xfrm>
          <a:prstGeom prst="rect">
            <a:avLst/>
          </a:prstGeom>
          <a:ln w="57150">
            <a:solidFill>
              <a:schemeClr val="tx1"/>
            </a:solidFill>
          </a:ln>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Syntax:</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do</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   //body of the loop</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while (</a:t>
            </a:r>
            <a:r>
              <a:rPr lang="en-IN" sz="2400" dirty="0" err="1">
                <a:latin typeface="Times New Roman" panose="02020603050405020304" pitchFamily="18" charset="0"/>
                <a:cs typeface="Times New Roman" panose="02020603050405020304" pitchFamily="18" charset="0"/>
              </a:rPr>
              <a:t>testExpression</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6146" name="Picture 2" descr="do while loop flowchart in C programm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33401" y="1165123"/>
            <a:ext cx="4556637" cy="49997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do-while Loop-Example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4524315"/>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#include&lt;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void main()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do</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("%d\t",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 while(</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5);</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for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980389"/>
            <a:ext cx="7854362" cy="1785104"/>
          </a:xfrm>
          <a:prstGeom prst="rect">
            <a:avLst/>
          </a:prstGeom>
          <a:ln w="57150">
            <a:solidFill>
              <a:schemeClr val="tx1"/>
            </a:solidFill>
          </a:ln>
        </p:spPr>
        <p:txBody>
          <a:bodyPr wrap="square">
            <a:spAutoFit/>
          </a:bodyPr>
          <a:lstStyle/>
          <a:p>
            <a:pPr algn="just"/>
            <a:r>
              <a:rPr lang="en-IN" sz="2200" b="1" dirty="0">
                <a:latin typeface="Times New Roman" panose="02020603050405020304" pitchFamily="18" charset="0"/>
                <a:cs typeface="Times New Roman" panose="02020603050405020304" pitchFamily="18" charset="0"/>
              </a:rPr>
              <a:t>Syntax:</a:t>
            </a:r>
            <a:endParaRPr lang="en-IN" sz="2200" b="1"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for (</a:t>
            </a:r>
            <a:r>
              <a:rPr lang="en-IN" sz="2200" dirty="0" err="1">
                <a:latin typeface="Times New Roman" panose="02020603050405020304" pitchFamily="18" charset="0"/>
                <a:cs typeface="Times New Roman" panose="02020603050405020304" pitchFamily="18" charset="0"/>
              </a:rPr>
              <a:t>initializationStatement</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testExpression</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updateStatement</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 body of loop</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pic>
        <p:nvPicPr>
          <p:cNvPr id="10242" name="Picture 2" descr="Flowchart of for loop in C programm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8427" y="2831842"/>
            <a:ext cx="7388941" cy="40261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for Loop</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501194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initialization statement is executed only once.</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Then, the test expression is evaluated. If the test expression is evaluated to false, the for loop is terminated.</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However, if the test expression is evaluated to true, statements inside the body of for loop are executed, and the update expression is updated.</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Again the test expression is evaluated.</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process goes on until the test expression is false. When the test expression is false, the loop terminates.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for Loop-Example</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4154984"/>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for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=5;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("%d ",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B</a:t>
            </a:r>
            <a:r>
              <a:rPr lang="en-IN" sz="4000" b="1" dirty="0" err="1">
                <a:latin typeface="Times New Roman" panose="02020603050405020304" pitchFamily="18" charset="0"/>
                <a:cs typeface="Times New Roman" panose="02020603050405020304" pitchFamily="18" charset="0"/>
              </a:rPr>
              <a:t>reak</a:t>
            </a:r>
            <a:r>
              <a:rPr lang="en-IN" sz="4000" b="1" dirty="0">
                <a:latin typeface="Times New Roman" panose="02020603050405020304" pitchFamily="18" charset="0"/>
                <a:cs typeface="Times New Roman" panose="02020603050405020304" pitchFamily="18" charset="0"/>
              </a:rPr>
              <a:t>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3046988"/>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break statement ends the loop immediately when it is encountered.</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break;</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break statement is almost always used with if...else statement inside the loop.</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B</a:t>
            </a:r>
            <a:r>
              <a:rPr lang="en-IN" sz="4000" b="1" dirty="0" err="1">
                <a:latin typeface="Times New Roman" panose="02020603050405020304" pitchFamily="18" charset="0"/>
                <a:cs typeface="Times New Roman" panose="02020603050405020304" pitchFamily="18" charset="0"/>
              </a:rPr>
              <a:t>reak</a:t>
            </a:r>
            <a:r>
              <a:rPr lang="en-IN" sz="4000" b="1" dirty="0">
                <a:latin typeface="Times New Roman" panose="02020603050405020304" pitchFamily="18" charset="0"/>
                <a:cs typeface="Times New Roman" panose="02020603050405020304" pitchFamily="18" charset="0"/>
              </a:rPr>
              <a:t> statement</a:t>
            </a:r>
            <a:endParaRPr lang="en-IN" sz="4000" b="1" dirty="0">
              <a:latin typeface="Times New Roman" panose="02020603050405020304" pitchFamily="18" charset="0"/>
              <a:cs typeface="Times New Roman" panose="02020603050405020304" pitchFamily="18" charset="0"/>
            </a:endParaRPr>
          </a:p>
        </p:txBody>
      </p:sp>
      <p:pic>
        <p:nvPicPr>
          <p:cNvPr id="12290" name="Picture 2" descr="Working of break statemen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723" y="1032966"/>
            <a:ext cx="8672051" cy="5618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B</a:t>
            </a:r>
            <a:r>
              <a:rPr lang="en-IN" sz="4000" b="1" dirty="0" err="1">
                <a:latin typeface="Times New Roman" panose="02020603050405020304" pitchFamily="18" charset="0"/>
                <a:cs typeface="Times New Roman" panose="02020603050405020304" pitchFamily="18" charset="0"/>
              </a:rPr>
              <a:t>reak</a:t>
            </a:r>
            <a:r>
              <a:rPr lang="en-IN" sz="4000" b="1" dirty="0">
                <a:latin typeface="Times New Roman" panose="02020603050405020304" pitchFamily="18" charset="0"/>
                <a:cs typeface="Times New Roman" panose="02020603050405020304" pitchFamily="18" charset="0"/>
              </a:rPr>
              <a:t> statement-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276288" y="1058419"/>
            <a:ext cx="8591064" cy="5909310"/>
          </a:xfrm>
          <a:prstGeom prst="rect">
            <a:avLst/>
          </a:prstGeom>
        </p:spPr>
        <p:txBody>
          <a:bodyPr wrap="square">
            <a:spAutoFit/>
          </a:bodyPr>
          <a:lstStyle/>
          <a:p>
            <a:r>
              <a:rPr lang="en-IN" sz="2100" dirty="0">
                <a:latin typeface="Times New Roman" panose="02020603050405020304" pitchFamily="18" charset="0"/>
                <a:cs typeface="Times New Roman" panose="02020603050405020304" pitchFamily="18" charset="0"/>
              </a:rPr>
              <a:t>// Program to calculate the sum of a maximum of 10 numbers</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If a negative number is entered, the loop terminates</a:t>
            </a:r>
            <a:endParaRPr lang="en-IN" sz="2100" dirty="0">
              <a:latin typeface="Times New Roman" panose="02020603050405020304" pitchFamily="18" charset="0"/>
              <a:cs typeface="Times New Roman" panose="02020603050405020304" pitchFamily="18" charset="0"/>
            </a:endParaRPr>
          </a:p>
          <a:p>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include &lt;</a:t>
            </a:r>
            <a:r>
              <a:rPr lang="en-IN" sz="2100" dirty="0" err="1">
                <a:latin typeface="Times New Roman" panose="02020603050405020304" pitchFamily="18" charset="0"/>
                <a:cs typeface="Times New Roman" panose="02020603050405020304" pitchFamily="18" charset="0"/>
              </a:rPr>
              <a:t>stdio.h</a:t>
            </a:r>
            <a:r>
              <a:rPr lang="en-IN" sz="2100" dirty="0">
                <a:latin typeface="Times New Roman" panose="02020603050405020304" pitchFamily="18" charset="0"/>
                <a:cs typeface="Times New Roman" panose="02020603050405020304" pitchFamily="18" charset="0"/>
              </a:rPr>
              <a:t>&gt;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void main()</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int </a:t>
            </a:r>
            <a:r>
              <a:rPr lang="en-IN" sz="2100" dirty="0" err="1">
                <a:latin typeface="Times New Roman" panose="02020603050405020304" pitchFamily="18" charset="0"/>
                <a:cs typeface="Times New Roman" panose="02020603050405020304" pitchFamily="18" charset="0"/>
              </a:rPr>
              <a:t>i</a:t>
            </a:r>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int number, sum = 0;</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for(</a:t>
            </a:r>
            <a:r>
              <a:rPr lang="en-IN" sz="2100" dirty="0" err="1">
                <a:latin typeface="Times New Roman" panose="02020603050405020304" pitchFamily="18" charset="0"/>
                <a:cs typeface="Times New Roman" panose="02020603050405020304" pitchFamily="18" charset="0"/>
              </a:rPr>
              <a:t>i</a:t>
            </a:r>
            <a:r>
              <a:rPr lang="en-IN" sz="2100" dirty="0">
                <a:latin typeface="Times New Roman" panose="02020603050405020304" pitchFamily="18" charset="0"/>
                <a:cs typeface="Times New Roman" panose="02020603050405020304" pitchFamily="18" charset="0"/>
              </a:rPr>
              <a:t>=1; </a:t>
            </a:r>
            <a:r>
              <a:rPr lang="en-IN" sz="2100" dirty="0" err="1">
                <a:latin typeface="Times New Roman" panose="02020603050405020304" pitchFamily="18" charset="0"/>
                <a:cs typeface="Times New Roman" panose="02020603050405020304" pitchFamily="18" charset="0"/>
              </a:rPr>
              <a:t>i</a:t>
            </a:r>
            <a:r>
              <a:rPr lang="en-IN" sz="2100" dirty="0">
                <a:latin typeface="Times New Roman" panose="02020603050405020304" pitchFamily="18" charset="0"/>
                <a:cs typeface="Times New Roman" panose="02020603050405020304" pitchFamily="18" charset="0"/>
              </a:rPr>
              <a:t> &lt;= 10; ++</a:t>
            </a:r>
            <a:r>
              <a:rPr lang="en-IN" sz="2100" dirty="0" err="1">
                <a:latin typeface="Times New Roman" panose="02020603050405020304" pitchFamily="18" charset="0"/>
                <a:cs typeface="Times New Roman" panose="02020603050405020304" pitchFamily="18" charset="0"/>
              </a:rPr>
              <a:t>i</a:t>
            </a:r>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printf</a:t>
            </a:r>
            <a:r>
              <a:rPr lang="en-IN" sz="2100" dirty="0">
                <a:latin typeface="Times New Roman" panose="02020603050405020304" pitchFamily="18" charset="0"/>
                <a:cs typeface="Times New Roman" panose="02020603050405020304" pitchFamily="18" charset="0"/>
              </a:rPr>
              <a:t>("Enter a </a:t>
            </a:r>
            <a:r>
              <a:rPr lang="en-IN" sz="2100" dirty="0" err="1">
                <a:latin typeface="Times New Roman" panose="02020603050405020304" pitchFamily="18" charset="0"/>
                <a:cs typeface="Times New Roman" panose="02020603050405020304" pitchFamily="18" charset="0"/>
              </a:rPr>
              <a:t>n%d</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i</a:t>
            </a:r>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scanf</a:t>
            </a:r>
            <a:r>
              <a:rPr lang="en-IN" sz="2100" dirty="0">
                <a:latin typeface="Times New Roman" panose="02020603050405020304" pitchFamily="18" charset="0"/>
                <a:cs typeface="Times New Roman" panose="02020603050405020304" pitchFamily="18" charset="0"/>
              </a:rPr>
              <a:t>("%</a:t>
            </a:r>
            <a:r>
              <a:rPr lang="en-IN" sz="2100" dirty="0" err="1">
                <a:latin typeface="Times New Roman" panose="02020603050405020304" pitchFamily="18" charset="0"/>
                <a:cs typeface="Times New Roman" panose="02020603050405020304" pitchFamily="18" charset="0"/>
              </a:rPr>
              <a:t>d",&amp;number</a:t>
            </a:r>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if(number &lt; 0)</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break;</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sum += number; </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printf</a:t>
            </a:r>
            <a:r>
              <a:rPr lang="en-IN" sz="2100" dirty="0">
                <a:latin typeface="Times New Roman" panose="02020603050405020304" pitchFamily="18" charset="0"/>
                <a:cs typeface="Times New Roman" panose="02020603050405020304" pitchFamily="18" charset="0"/>
              </a:rPr>
              <a:t>("Sum = %</a:t>
            </a:r>
            <a:r>
              <a:rPr lang="en-IN" sz="2100" dirty="0" err="1">
                <a:latin typeface="Times New Roman" panose="02020603050405020304" pitchFamily="18" charset="0"/>
                <a:cs typeface="Times New Roman" panose="02020603050405020304" pitchFamily="18" charset="0"/>
              </a:rPr>
              <a:t>d,sum</a:t>
            </a:r>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continue</a:t>
            </a:r>
            <a:r>
              <a:rPr lang="en-IN" sz="4000" b="1" dirty="0">
                <a:latin typeface="Times New Roman" panose="02020603050405020304" pitchFamily="18" charset="0"/>
                <a:cs typeface="Times New Roman" panose="02020603050405020304" pitchFamily="18" charset="0"/>
              </a:rPr>
              <a:t> statement</a:t>
            </a:r>
            <a:endParaRPr lang="en-IN"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13006" y="1172478"/>
            <a:ext cx="8717628" cy="3416320"/>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continue</a:t>
            </a:r>
            <a:r>
              <a:rPr lang="en-IN" sz="2400" dirty="0">
                <a:latin typeface="Times New Roman" panose="02020603050405020304" pitchFamily="18" charset="0"/>
                <a:cs typeface="Times New Roman" panose="02020603050405020304" pitchFamily="18" charset="0"/>
              </a:rPr>
              <a:t> statement skips the current iteration of the loop and continues with the next iteration.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Syntax:</a:t>
            </a:r>
            <a:endParaRPr lang="en-IN" sz="2400" b="1"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continue;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continue statement is almost always used with the if...else statement.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continue</a:t>
            </a:r>
            <a:r>
              <a:rPr lang="en-IN" sz="4000" b="1" dirty="0">
                <a:latin typeface="Times New Roman" panose="02020603050405020304" pitchFamily="18" charset="0"/>
                <a:cs typeface="Times New Roman" panose="02020603050405020304" pitchFamily="18" charset="0"/>
              </a:rPr>
              <a:t> statement</a:t>
            </a:r>
            <a:endParaRPr lang="en-IN" sz="4000" b="1" dirty="0">
              <a:latin typeface="Times New Roman" panose="02020603050405020304" pitchFamily="18" charset="0"/>
              <a:cs typeface="Times New Roman" panose="02020603050405020304" pitchFamily="18" charset="0"/>
            </a:endParaRPr>
          </a:p>
        </p:txBody>
      </p:sp>
      <p:pic>
        <p:nvPicPr>
          <p:cNvPr id="17410" name="Picture 2" descr="Working of continue statement in C programm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6884" y="1134049"/>
            <a:ext cx="8598569" cy="54752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a:latin typeface="Times New Roman" panose="02020603050405020304" pitchFamily="18" charset="0"/>
                <a:cs typeface="Times New Roman" panose="02020603050405020304" pitchFamily="18" charset="0"/>
              </a:rPr>
              <a:t>continue</a:t>
            </a:r>
            <a:r>
              <a:rPr lang="en-IN" sz="4000" b="1" dirty="0">
                <a:latin typeface="Times New Roman" panose="02020603050405020304" pitchFamily="18" charset="0"/>
                <a:cs typeface="Times New Roman" panose="02020603050405020304" pitchFamily="18" charset="0"/>
              </a:rPr>
              <a:t> statement-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276288" y="1058419"/>
            <a:ext cx="8591064" cy="5847755"/>
          </a:xfrm>
          <a:prstGeom prst="rect">
            <a:avLst/>
          </a:prstGeom>
        </p:spPr>
        <p:txBody>
          <a:bodyPr wrap="square">
            <a:spAutoFit/>
          </a:bodyPr>
          <a:lstStyle/>
          <a:p>
            <a:r>
              <a:rPr lang="en-IN" sz="2200" dirty="0">
                <a:latin typeface="Times New Roman" panose="02020603050405020304" pitchFamily="18" charset="0"/>
                <a:cs typeface="Times New Roman" panose="02020603050405020304" pitchFamily="18" charset="0"/>
              </a:rPr>
              <a:t>// Program to calculate the sum of a maximum of 10 numbers</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Negative numbers are skipped from the calculation</a:t>
            </a:r>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include &lt;</a:t>
            </a:r>
            <a:r>
              <a:rPr lang="en-IN" sz="2200" dirty="0" err="1">
                <a:latin typeface="Times New Roman" panose="02020603050405020304" pitchFamily="18" charset="0"/>
                <a:cs typeface="Times New Roman" panose="02020603050405020304" pitchFamily="18" charset="0"/>
              </a:rPr>
              <a:t>stdio.h</a:t>
            </a:r>
            <a:r>
              <a:rPr lang="en-IN" sz="2200" dirty="0">
                <a:latin typeface="Times New Roman" panose="02020603050405020304" pitchFamily="18" charset="0"/>
                <a:cs typeface="Times New Roman" panose="02020603050405020304" pitchFamily="18" charset="0"/>
              </a:rPr>
              <a:t>&gt;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int main()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int </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 number, sum = 0;</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for(</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=1; </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 &lt;= 10; ++</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("Enter a </a:t>
            </a:r>
            <a:r>
              <a:rPr lang="en-IN" sz="2200" dirty="0" err="1">
                <a:latin typeface="Times New Roman" panose="02020603050405020304" pitchFamily="18" charset="0"/>
                <a:cs typeface="Times New Roman" panose="02020603050405020304" pitchFamily="18" charset="0"/>
              </a:rPr>
              <a:t>n%d</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scanf</a:t>
            </a: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d",&amp;number</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if(number </a:t>
            </a:r>
            <a:r>
              <a:rPr lang="en-IN" sz="2200">
                <a:latin typeface="Times New Roman" panose="02020603050405020304" pitchFamily="18" charset="0"/>
                <a:cs typeface="Times New Roman" panose="02020603050405020304" pitchFamily="18" charset="0"/>
              </a:rPr>
              <a:t>&lt; 0)</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continue;</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sum += number; </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printf</a:t>
            </a:r>
            <a:r>
              <a:rPr lang="en-IN" sz="2200" dirty="0">
                <a:latin typeface="Times New Roman" panose="02020603050405020304" pitchFamily="18" charset="0"/>
                <a:cs typeface="Times New Roman" panose="02020603050405020304" pitchFamily="18" charset="0"/>
              </a:rPr>
              <a:t>("Sum = %</a:t>
            </a:r>
            <a:r>
              <a:rPr lang="en-IN" sz="2200" dirty="0" err="1">
                <a:latin typeface="Times New Roman" panose="02020603050405020304" pitchFamily="18" charset="0"/>
                <a:cs typeface="Times New Roman" panose="02020603050405020304" pitchFamily="18" charset="0"/>
              </a:rPr>
              <a:t>d",sum</a:t>
            </a:r>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err="1">
                <a:latin typeface="Times New Roman" panose="02020603050405020304" pitchFamily="18" charset="0"/>
                <a:cs typeface="Times New Roman" panose="02020603050405020304" pitchFamily="18" charset="0"/>
              </a:rPr>
              <a:t>goto</a:t>
            </a:r>
            <a:r>
              <a:rPr lang="en-IN" sz="4000" b="1" dirty="0">
                <a:latin typeface="Times New Roman" panose="02020603050405020304" pitchFamily="18" charset="0"/>
                <a:cs typeface="Times New Roman" panose="02020603050405020304" pitchFamily="18" charset="0"/>
              </a:rPr>
              <a:t> statement</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276288" y="1058419"/>
            <a:ext cx="8591064" cy="5170646"/>
          </a:xfrm>
          <a:prstGeom prst="rect">
            <a:avLst/>
          </a:prstGeom>
        </p:spPr>
        <p:txBody>
          <a:bodyPr wrap="square">
            <a:spAutoFit/>
          </a:bodyPr>
          <a:lstStyle/>
          <a:p>
            <a:pPr algn="just"/>
            <a:r>
              <a:rPr lang="en-IN" sz="2200" dirty="0">
                <a:latin typeface="Times New Roman" panose="02020603050405020304" pitchFamily="18" charset="0"/>
                <a:cs typeface="Times New Roman" panose="02020603050405020304" pitchFamily="18" charset="0"/>
              </a:rPr>
              <a:t>The </a:t>
            </a:r>
            <a:r>
              <a:rPr lang="en-IN" sz="2200" b="1"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 statement is known as jump statement in C.</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 statement allows us to transfer control of the program to the specified label.</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b="1" dirty="0">
                <a:latin typeface="Times New Roman" panose="02020603050405020304" pitchFamily="18" charset="0"/>
                <a:cs typeface="Times New Roman" panose="02020603050405020304" pitchFamily="18" charset="0"/>
              </a:rPr>
              <a:t>Syntax :</a:t>
            </a:r>
            <a:endParaRPr lang="en-IN" sz="2200" b="1"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 label;</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label: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statement;</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The label is an identifier. When the </a:t>
            </a:r>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 statement is encountered, the control of the program jumps to label: and starts executing the code.</a:t>
            </a:r>
            <a:endParaRPr lang="en-IN" sz="2200" dirty="0">
              <a:latin typeface="Times New Roman" panose="02020603050405020304" pitchFamily="18" charset="0"/>
              <a:cs typeface="Times New Roman" panose="02020603050405020304" pitchFamily="18" charset="0"/>
            </a:endParaRPr>
          </a:p>
        </p:txBody>
      </p:sp>
      <p:pic>
        <p:nvPicPr>
          <p:cNvPr id="1026" name="Picture 2" descr="How goto statement work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97162" y="3123223"/>
            <a:ext cx="3849328" cy="2152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US" sz="4000" b="1" dirty="0" err="1">
                <a:latin typeface="Times New Roman" panose="02020603050405020304" pitchFamily="18" charset="0"/>
                <a:cs typeface="Times New Roman" panose="02020603050405020304" pitchFamily="18" charset="0"/>
              </a:rPr>
              <a:t>goto</a:t>
            </a:r>
            <a:r>
              <a:rPr lang="en-IN" sz="4000" b="1" dirty="0">
                <a:latin typeface="Times New Roman" panose="02020603050405020304" pitchFamily="18" charset="0"/>
                <a:cs typeface="Times New Roman" panose="02020603050405020304" pitchFamily="18" charset="0"/>
              </a:rPr>
              <a:t> statement-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276288" y="1058419"/>
            <a:ext cx="8591064" cy="5262979"/>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//Program to display multiplication table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int main()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num,i</a:t>
            </a:r>
            <a:r>
              <a:rPr lang="en-IN" sz="2400" dirty="0">
                <a:latin typeface="Times New Roman" panose="02020603050405020304" pitchFamily="18" charset="0"/>
                <a:cs typeface="Times New Roman" panose="02020603050405020304" pitchFamily="18" charset="0"/>
              </a:rPr>
              <a:t>=1;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("Enter the number whose table you want to print?");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scanf</a:t>
            </a:r>
            <a:r>
              <a:rPr lang="en-IN" sz="2400" dirty="0">
                <a:latin typeface="Times New Roman" panose="02020603050405020304" pitchFamily="18" charset="0"/>
                <a:cs typeface="Times New Roman" panose="02020603050405020304" pitchFamily="18" charset="0"/>
              </a:rPr>
              <a:t>("%d",&amp;</a:t>
            </a:r>
            <a:r>
              <a:rPr lang="en-IN" sz="2400" dirty="0" err="1">
                <a:latin typeface="Times New Roman" panose="02020603050405020304" pitchFamily="18" charset="0"/>
                <a:cs typeface="Times New Roman" panose="02020603050405020304" pitchFamily="18" charset="0"/>
              </a:rPr>
              <a:t>num</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table: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("%d x %d = %d\n",</a:t>
            </a:r>
            <a:r>
              <a:rPr lang="en-IN" sz="2400" dirty="0" err="1">
                <a:latin typeface="Times New Roman" panose="02020603050405020304" pitchFamily="18" charset="0"/>
                <a:cs typeface="Times New Roman" panose="02020603050405020304" pitchFamily="18" charset="0"/>
              </a:rPr>
              <a:t>num,i,num</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if(</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&lt;=10)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goto</a:t>
            </a:r>
            <a:r>
              <a:rPr lang="en-IN" sz="2400" dirty="0">
                <a:latin typeface="Times New Roman" panose="02020603050405020304" pitchFamily="18" charset="0"/>
                <a:cs typeface="Times New Roman" panose="02020603050405020304" pitchFamily="18" charset="0"/>
              </a:rPr>
              <a:t> table;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return 0;</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146160" y="6210360"/>
            <a:ext cx="456840" cy="456840"/>
          </a:xfrm>
          <a:prstGeom prst="rect">
            <a:avLst/>
          </a:prstGeom>
        </p:spPr>
        <p:txBody>
          <a:bodyPr lIns="0" tIns="0" rIns="0" bIns="0" anchor="ctr" anchorCtr="1"/>
          <a:lstStyle/>
          <a:p>
            <a:pPr>
              <a:lnSpc>
                <a:spcPct val="100000"/>
              </a:lnSpc>
            </a:pPr>
            <a:fld id="{5B30142B-3B85-4DFF-BFFF-A1E4B641A080}" type="slidenum">
              <a:rPr lang="en-US" sz="1400">
                <a:solidFill>
                  <a:srgbClr val="FFFFFF"/>
                </a:solidFill>
                <a:latin typeface="Franklin Gothic Book" panose="020B0503020102020204"/>
              </a:rPr>
            </a:fld>
            <a:endParaRPr lang="en-US" sz="1400">
              <a:solidFill>
                <a:srgbClr val="FFFFFF"/>
              </a:solidFill>
              <a:latin typeface="Franklin Gothic Book" panose="020B0503020102020204"/>
            </a:endParaRPr>
          </a:p>
        </p:txBody>
      </p:sp>
      <p:sp>
        <p:nvSpPr>
          <p:cNvPr id="133" name="CustomShape 2"/>
          <p:cNvSpPr/>
          <p:nvPr/>
        </p:nvSpPr>
        <p:spPr>
          <a:xfrm>
            <a:off x="8039160" y="6400800"/>
            <a:ext cx="183960" cy="366480"/>
          </a:xfrm>
          <a:prstGeom prst="rect">
            <a:avLst/>
          </a:prstGeom>
        </p:spPr>
      </p:sp>
      <p:sp>
        <p:nvSpPr>
          <p:cNvPr id="135" name="CustomShape 4"/>
          <p:cNvSpPr/>
          <p:nvPr/>
        </p:nvSpPr>
        <p:spPr>
          <a:xfrm>
            <a:off x="146160" y="1049311"/>
            <a:ext cx="8851680" cy="5717969"/>
          </a:xfrm>
          <a:prstGeom prst="rect">
            <a:avLst/>
          </a:prstGeom>
        </p:spPr>
        <p:txBody>
          <a:bodyPr anchor="ctr"/>
          <a:lstStyle/>
          <a:p>
            <a:pPr algn="ctr">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5400" b="1" dirty="0">
              <a:solidFill>
                <a:schemeClr val="tx1"/>
              </a:solidFill>
              <a:latin typeface="Times New Roman" panose="02020603050405020304" pitchFamily="18" charset="0"/>
              <a:cs typeface="Times New Roman" panose="02020603050405020304" pitchFamily="18" charset="0"/>
            </a:endParaRPr>
          </a:p>
          <a:p>
            <a:pPr algn="ctr">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7200" b="1" dirty="0">
                <a:latin typeface="Times New Roman" panose="02020603050405020304" pitchFamily="18" charset="0"/>
                <a:cs typeface="Times New Roman" panose="02020603050405020304" pitchFamily="18" charset="0"/>
              </a:rPr>
              <a:t>“Arrays and Strings”</a:t>
            </a:r>
            <a:endParaRPr lang="en-US" sz="5400" b="1" dirty="0">
              <a:solidFill>
                <a:schemeClr val="tx1"/>
              </a:solidFill>
              <a:latin typeface="Times New Roman" panose="02020603050405020304" pitchFamily="18" charset="0"/>
              <a:cs typeface="Times New Roman" panose="02020603050405020304" pitchFamily="18" charset="0"/>
            </a:endParaRPr>
          </a:p>
          <a:p>
            <a:pPr algn="ctr">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5400" b="1" dirty="0">
              <a:latin typeface="Times New Roman" panose="02020603050405020304" pitchFamily="18" charset="0"/>
              <a:cs typeface="Times New Roman" panose="02020603050405020304" pitchFamily="18" charset="0"/>
            </a:endParaRPr>
          </a:p>
          <a:p>
            <a:pPr algn="just">
              <a:lnSpc>
                <a:spcPct val="100000"/>
              </a:lnSpc>
            </a:pPr>
            <a:endParaRPr sz="4800" dirty="0"/>
          </a:p>
        </p:txBody>
      </p:sp>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Arrays</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97153"/>
            <a:ext cx="8851692" cy="5386090"/>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An </a:t>
            </a:r>
            <a:r>
              <a:rPr lang="en-IN" sz="2400" b="1" dirty="0">
                <a:latin typeface="Times New Roman" panose="02020603050405020304" pitchFamily="18" charset="0"/>
                <a:cs typeface="Times New Roman" panose="02020603050405020304" pitchFamily="18" charset="0"/>
              </a:rPr>
              <a:t>array</a:t>
            </a:r>
            <a:r>
              <a:rPr lang="en-IN" sz="2400" dirty="0">
                <a:latin typeface="Times New Roman" panose="02020603050405020304" pitchFamily="18" charset="0"/>
                <a:cs typeface="Times New Roman" panose="02020603050405020304" pitchFamily="18" charset="0"/>
              </a:rPr>
              <a:t> is defined as the collection of similar type of data items stored at contiguous memory locations.</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Arrays are the derived data type in C programming language which can store the primitive type of data such as int, char, double, float, etc.</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Properties of Array</a:t>
            </a:r>
            <a:endParaRPr lang="en-IN" sz="2400" b="1"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element of an array is of same data type and carries the same size, i.e., int = 4 bytes.</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Elements of the array are stored at contiguous memory locations where the first element is stored at the smallest memory location.</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Elements of the array can be randomly accessed using base address and the size of the data element.</a:t>
            </a:r>
            <a:endParaRPr lang="en-IN" sz="2400" dirty="0">
              <a:latin typeface="Times New Roman" panose="02020603050405020304" pitchFamily="18" charset="0"/>
              <a:cs typeface="Times New Roman" panose="02020603050405020304" pitchFamily="18" charset="0"/>
            </a:endParaRPr>
          </a:p>
          <a:p>
            <a:pPr algn="just"/>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Types of Arrays</a:t>
            </a:r>
            <a:endParaRPr sz="4000" b="1" dirty="0">
              <a:latin typeface="Times New Roman" panose="02020603050405020304" pitchFamily="18" charset="0"/>
              <a:cs typeface="Times New Roman" panose="02020603050405020304" pitchFamily="18" charset="0"/>
            </a:endParaRPr>
          </a:p>
        </p:txBody>
      </p:sp>
      <p:pic>
        <p:nvPicPr>
          <p:cNvPr id="2052" name="Picture 4" descr="Array,data typ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484" y="1147763"/>
            <a:ext cx="8697083" cy="54890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1-D Array Declaration</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2308324"/>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An array which has only one subscript is known as </a:t>
            </a:r>
            <a:r>
              <a:rPr lang="en-IN" sz="2400" b="1" dirty="0">
                <a:latin typeface="Times New Roman" panose="02020603050405020304" pitchFamily="18" charset="0"/>
                <a:cs typeface="Times New Roman" panose="02020603050405020304" pitchFamily="18" charset="0"/>
              </a:rPr>
              <a:t>one dimensional array</a:t>
            </a:r>
            <a:r>
              <a:rPr lang="en-IN" sz="2400" dirty="0">
                <a:latin typeface="Times New Roman" panose="02020603050405020304" pitchFamily="18" charset="0"/>
                <a:cs typeface="Times New Roman" panose="02020603050405020304" pitchFamily="18" charset="0"/>
              </a:rPr>
              <a:t>. Arrays must be declared before they are used. General form of array declaration is,</a:t>
            </a:r>
            <a:endParaRPr lang="en-IN" sz="2400" dirty="0">
              <a:latin typeface="Times New Roman" panose="02020603050405020304" pitchFamily="18" charset="0"/>
              <a:cs typeface="Times New Roman" panose="02020603050405020304" pitchFamily="18" charset="0"/>
            </a:endParaRPr>
          </a:p>
          <a:p>
            <a:pPr algn="just"/>
            <a:r>
              <a:rPr lang="en-IN" sz="2400" b="1" dirty="0" err="1">
                <a:latin typeface="Times New Roman" panose="02020603050405020304" pitchFamily="18" charset="0"/>
                <a:cs typeface="Times New Roman" panose="02020603050405020304" pitchFamily="18" charset="0"/>
              </a:rPr>
              <a:t>data_type</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array_name</a:t>
            </a:r>
            <a:r>
              <a:rPr lang="en-IN" sz="2400" b="1" dirty="0">
                <a:latin typeface="Times New Roman" panose="02020603050405020304" pitchFamily="18" charset="0"/>
                <a:cs typeface="Times New Roman" panose="02020603050405020304" pitchFamily="18" charset="0"/>
              </a:rPr>
              <a:t>[size];</a:t>
            </a:r>
            <a:endParaRPr lang="en-IN" sz="2400" b="1"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Example :	int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p:txBody>
      </p:sp>
      <p:pic>
        <p:nvPicPr>
          <p:cNvPr id="1026" name="Picture 2" descr="array declaraction in 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723" y="3334441"/>
            <a:ext cx="8747123" cy="127224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46154" y="4488603"/>
            <a:ext cx="8851692" cy="2308324"/>
          </a:xfrm>
          <a:prstGeom prst="rect">
            <a:avLst/>
          </a:prstGeom>
        </p:spPr>
        <p:txBody>
          <a:bodyPr wrap="square">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Here int is the data type,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is the name of the array and 10 is the size of array. It means array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can only contain 10 elements of int type.</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Index of an array starts from 0 to size-1 </a:t>
            </a:r>
            <a:r>
              <a:rPr lang="en-IN" sz="2400" dirty="0" err="1">
                <a:latin typeface="Times New Roman" panose="02020603050405020304" pitchFamily="18" charset="0"/>
                <a:cs typeface="Times New Roman" panose="02020603050405020304" pitchFamily="18" charset="0"/>
              </a:rPr>
              <a:t>i.e</a:t>
            </a:r>
            <a:r>
              <a:rPr lang="en-IN" sz="2400" dirty="0">
                <a:latin typeface="Times New Roman" panose="02020603050405020304" pitchFamily="18" charset="0"/>
                <a:cs typeface="Times New Roman" panose="02020603050405020304" pitchFamily="18" charset="0"/>
              </a:rPr>
              <a:t> first element of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array will be stored at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[0] address and the last element will occupy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[9].</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1-D Array Initialization</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4457952"/>
          </a:xfrm>
          <a:prstGeom prst="rect">
            <a:avLst/>
          </a:prstGeom>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It is possible to initialize an array during declaration. </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Syntax: datatype </a:t>
            </a:r>
            <a:r>
              <a:rPr lang="en-IN" sz="2400" b="1" dirty="0" err="1">
                <a:latin typeface="Times New Roman" panose="02020603050405020304" pitchFamily="18" charset="0"/>
                <a:cs typeface="Times New Roman" panose="02020603050405020304" pitchFamily="18" charset="0"/>
              </a:rPr>
              <a:t>array_name</a:t>
            </a:r>
            <a:r>
              <a:rPr lang="en-IN" sz="2400" b="1" dirty="0">
                <a:latin typeface="Times New Roman" panose="02020603050405020304" pitchFamily="18" charset="0"/>
                <a:cs typeface="Times New Roman" panose="02020603050405020304" pitchFamily="18" charset="0"/>
              </a:rPr>
              <a:t>[size] = { val1, val2, val3, ..... </a:t>
            </a:r>
            <a:r>
              <a:rPr lang="en-IN" sz="2400" b="1" dirty="0" err="1">
                <a:latin typeface="Times New Roman" panose="02020603050405020304" pitchFamily="18" charset="0"/>
                <a:cs typeface="Times New Roman" panose="02020603050405020304" pitchFamily="18" charset="0"/>
              </a:rPr>
              <a:t>valN</a:t>
            </a:r>
            <a:r>
              <a:rPr lang="en-IN" sz="2400" b="1" dirty="0">
                <a:latin typeface="Times New Roman" panose="02020603050405020304" pitchFamily="18" charset="0"/>
                <a:cs typeface="Times New Roman" panose="02020603050405020304" pitchFamily="18" charset="0"/>
              </a:rPr>
              <a:t> };</a:t>
            </a:r>
            <a:endParaRPr lang="en-IN" sz="2400" b="1"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Example:</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int mark[5] = {19, 10, 8, 17, 9};</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You can also initialize an array like this:</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int mark[] = {19, 10, 8, 17, 9};</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Here, we haven't specified the size. However, the compiler knows its size is 5 as we are initializing it with 5 elements.</a:t>
            </a:r>
            <a:endParaRPr lang="en-IN" sz="2400" dirty="0">
              <a:latin typeface="Times New Roman" panose="02020603050405020304" pitchFamily="18" charset="0"/>
              <a:cs typeface="Times New Roman" panose="02020603050405020304" pitchFamily="18" charset="0"/>
            </a:endParaRPr>
          </a:p>
        </p:txBody>
      </p:sp>
      <p:pic>
        <p:nvPicPr>
          <p:cNvPr id="3074" name="Picture 2" descr="Initialize an array in C programm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4768" y="5596146"/>
            <a:ext cx="7874103" cy="105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Accessing 1-D Arrays</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5632311"/>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Elements of an array can be accessed by indices.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first element is mark[0], the second element is mark[1] and so on.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Few keynotes:</a:t>
            </a:r>
            <a:endParaRPr lang="en-IN"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Arrays have 0 as the first index, not 1. In this example, mark[0] is the first element.</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If the size of an array is n, to access the last element, the n-1 index is used. In this example, mark[4]</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Suppose the starting address of mark[0] is 2120. Then, the address of the mark[1] will be 2124. Similarly, the address of mark[2] will be 2128 and so on.</a:t>
            </a:r>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is because the size of a float is 4 bytes.</a:t>
            </a:r>
            <a:endParaRPr lang="en-IN" sz="2400" dirty="0">
              <a:latin typeface="Times New Roman" panose="02020603050405020304" pitchFamily="18" charset="0"/>
              <a:cs typeface="Times New Roman" panose="02020603050405020304" pitchFamily="18" charset="0"/>
            </a:endParaRPr>
          </a:p>
        </p:txBody>
      </p:sp>
      <p:pic>
        <p:nvPicPr>
          <p:cNvPr id="4100" name="Picture 4" descr="C Array declaration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8453" y="1558260"/>
            <a:ext cx="6708980" cy="105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1-D Arrays-Example</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5755422"/>
          </a:xfrm>
          <a:prstGeom prst="rect">
            <a:avLst/>
          </a:prstGeom>
        </p:spPr>
        <p:txBody>
          <a:bodyPr wrap="square">
            <a:spAutoFit/>
          </a:bodyPr>
          <a:lstStyle/>
          <a:p>
            <a:pPr algn="just"/>
            <a:r>
              <a:rPr lang="en-IN" sz="2300" dirty="0">
                <a:latin typeface="Times New Roman" panose="02020603050405020304" pitchFamily="18" charset="0"/>
                <a:cs typeface="Times New Roman" panose="02020603050405020304" pitchFamily="18" charset="0"/>
              </a:rPr>
              <a:t>// Program to find the average of n numbers using arrays</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 &lt;</a:t>
            </a:r>
            <a:r>
              <a:rPr lang="en-IN" sz="2300" dirty="0" err="1">
                <a:latin typeface="Times New Roman" panose="02020603050405020304" pitchFamily="18" charset="0"/>
                <a:cs typeface="Times New Roman" panose="02020603050405020304" pitchFamily="18" charset="0"/>
              </a:rPr>
              <a:t>stdio.h</a:t>
            </a:r>
            <a:r>
              <a:rPr lang="en-IN" sz="2300" dirty="0">
                <a:latin typeface="Times New Roman" panose="02020603050405020304" pitchFamily="18" charset="0"/>
                <a:cs typeface="Times New Roman" panose="02020603050405020304" pitchFamily="18" charset="0"/>
              </a:rPr>
              <a:t>&gt;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int main()</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int marks[10], </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 n, sum = 0, average;</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number of elements: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scanf</a:t>
            </a:r>
            <a:r>
              <a:rPr lang="en-IN" sz="2300" dirty="0">
                <a:latin typeface="Times New Roman" panose="02020603050405020304" pitchFamily="18" charset="0"/>
                <a:cs typeface="Times New Roman" panose="02020603050405020304" pitchFamily="18" charset="0"/>
              </a:rPr>
              <a:t>("%d", &amp;n);</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for(</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=0; </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&lt;n; ++</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a:t>
            </a:r>
            <a:r>
              <a:rPr lang="en-IN" sz="2300" dirty="0" err="1">
                <a:latin typeface="Times New Roman" panose="02020603050405020304" pitchFamily="18" charset="0"/>
                <a:cs typeface="Times New Roman" panose="02020603050405020304" pitchFamily="18" charset="0"/>
              </a:rPr>
              <a:t>number%d</a:t>
            </a:r>
            <a:r>
              <a:rPr lang="en-IN" sz="2300" dirty="0">
                <a:latin typeface="Times New Roman" panose="02020603050405020304" pitchFamily="18" charset="0"/>
                <a:cs typeface="Times New Roman" panose="02020603050405020304" pitchFamily="18" charset="0"/>
              </a:rPr>
              <a:t>: ",i+1);</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scanf</a:t>
            </a:r>
            <a:r>
              <a:rPr lang="en-IN" sz="2300" dirty="0">
                <a:latin typeface="Times New Roman" panose="02020603050405020304" pitchFamily="18" charset="0"/>
                <a:cs typeface="Times New Roman" panose="02020603050405020304" pitchFamily="18" charset="0"/>
              </a:rPr>
              <a:t>("%d", &amp;marks[</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sum += marks[</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("Average = %d", sum/n);</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return 0;</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2-D Arrays</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2677656"/>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two-dimensional array can be defined as an array of arrays.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2D array is organized as matrices which can be represented as the collection of rows and columns.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Two-dimensional arrays are declared as</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data-type array-name[row-size][column-size]; </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Example:  int a[3][4];</a:t>
            </a:r>
            <a:endParaRPr lang="en-IN" sz="2400" dirty="0">
              <a:latin typeface="Times New Roman" panose="02020603050405020304" pitchFamily="18" charset="0"/>
              <a:cs typeface="Times New Roman" panose="02020603050405020304" pitchFamily="18" charset="0"/>
            </a:endParaRPr>
          </a:p>
        </p:txBody>
      </p:sp>
      <p:pic>
        <p:nvPicPr>
          <p:cNvPr id="6146" name="Picture 2" descr="two dimensional array in 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6460" y="3815850"/>
            <a:ext cx="8462075" cy="28794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2-D Arrays- Initialization</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8851692" cy="2677656"/>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 Different ways to initialize two-dimensional array</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c[2][3] = {{1, 3, 0}, {-1, 5, 9}};</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c[][3] = {{1, 3, 0}, {-1, 5, 9}};</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c[2][3] = {1, 3, 0, -1, 5, 9};</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Addition of two Matrices</a:t>
            </a:r>
            <a:endParaRPr sz="4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46154" y="1026117"/>
            <a:ext cx="4658321" cy="5632311"/>
          </a:xfrm>
          <a:prstGeom prst="rect">
            <a:avLst/>
          </a:prstGeom>
        </p:spPr>
        <p:txBody>
          <a:bodyPr wrap="square">
            <a:spAutoFit/>
          </a:bodyPr>
          <a:lstStyle/>
          <a:p>
            <a:pPr algn="just"/>
            <a:r>
              <a:rPr lang="en-IN" sz="2000" dirty="0">
                <a:latin typeface="Times New Roman" panose="02020603050405020304" pitchFamily="18" charset="0"/>
                <a:cs typeface="Times New Roman" panose="02020603050405020304" pitchFamily="18" charset="0"/>
              </a:rPr>
              <a:t>#include &lt;</a:t>
            </a:r>
            <a:r>
              <a:rPr lang="en-IN" sz="2000" dirty="0" err="1">
                <a:latin typeface="Times New Roman" panose="02020603050405020304" pitchFamily="18" charset="0"/>
                <a:cs typeface="Times New Roman" panose="02020603050405020304" pitchFamily="18" charset="0"/>
              </a:rPr>
              <a:t>stdio.h</a:t>
            </a:r>
            <a:r>
              <a:rPr lang="en-IN" sz="2000" dirty="0">
                <a:latin typeface="Times New Roman" panose="02020603050405020304" pitchFamily="18" charset="0"/>
                <a:cs typeface="Times New Roman" panose="02020603050405020304" pitchFamily="18" charset="0"/>
              </a:rPr>
              <a:t>&gt;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int main()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float a[2][2], b[2][2], result[2][2];</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elements of 1st matrix\n");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2;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for (int j = 0; j &lt; 2; ++j)</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a:t>
            </a:r>
            <a:r>
              <a:rPr lang="en-IN" sz="2000" dirty="0" err="1">
                <a:latin typeface="Times New Roman" panose="02020603050405020304" pitchFamily="18" charset="0"/>
                <a:cs typeface="Times New Roman" panose="02020603050405020304" pitchFamily="18" charset="0"/>
              </a:rPr>
              <a:t>a%d%d</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+ 1, j + 1);</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scanf</a:t>
            </a:r>
            <a:r>
              <a:rPr lang="en-IN" sz="2000" dirty="0">
                <a:latin typeface="Times New Roman" panose="02020603050405020304" pitchFamily="18" charset="0"/>
                <a:cs typeface="Times New Roman" panose="02020603050405020304" pitchFamily="18" charset="0"/>
              </a:rPr>
              <a:t>("%f", &amp;a[</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][j]);</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elements of 2nd matrix\n");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for (int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2;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for (int j = 0; j &lt; 2; ++j)</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("Enter </a:t>
            </a:r>
            <a:r>
              <a:rPr lang="en-IN" sz="2000" dirty="0" err="1">
                <a:latin typeface="Times New Roman" panose="02020603050405020304" pitchFamily="18" charset="0"/>
                <a:cs typeface="Times New Roman" panose="02020603050405020304" pitchFamily="18" charset="0"/>
              </a:rPr>
              <a:t>b%d%d</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+ 1, j + 1);</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scanf</a:t>
            </a:r>
            <a:r>
              <a:rPr lang="en-IN" sz="2000" dirty="0">
                <a:latin typeface="Times New Roman" panose="02020603050405020304" pitchFamily="18" charset="0"/>
                <a:cs typeface="Times New Roman" panose="02020603050405020304" pitchFamily="18" charset="0"/>
              </a:rPr>
              <a:t>("%f", &amp;b[</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][j]);</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4804475" y="1580114"/>
            <a:ext cx="4091913" cy="452431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2;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for (int j = 0; j &lt; 2; ++j)</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result[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][j] = a[</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][j] + b[</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][j];</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nSum</a:t>
            </a:r>
            <a:r>
              <a:rPr lang="en-IN" dirty="0">
                <a:latin typeface="Times New Roman" panose="02020603050405020304" pitchFamily="18" charset="0"/>
                <a:cs typeface="Times New Roman" panose="02020603050405020304" pitchFamily="18" charset="0"/>
              </a:rPr>
              <a:t> Of Matrix:");</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2;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for (int j = 0; j &lt; 2; ++j)</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("%.1f\t", result[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][j]);</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if (j == 1)</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return 0;</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lnSpc>
                <a:spcPct val="100000"/>
              </a:lnSpc>
            </a:pPr>
            <a:r>
              <a:rPr lang="en-IN" sz="4000" b="1" dirty="0">
                <a:latin typeface="Times New Roman" panose="02020603050405020304" pitchFamily="18" charset="0"/>
                <a:cs typeface="Times New Roman" panose="02020603050405020304" pitchFamily="18" charset="0"/>
              </a:rPr>
              <a:t>Strings</a:t>
            </a:r>
            <a:endParaRPr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54983" y="1132890"/>
            <a:ext cx="8818535" cy="3416320"/>
          </a:xfrm>
          <a:prstGeom prst="rect">
            <a:avLst/>
          </a:prstGeom>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String</a:t>
            </a:r>
            <a:r>
              <a:rPr lang="en-IN" sz="2400" dirty="0">
                <a:latin typeface="Times New Roman" panose="02020603050405020304" pitchFamily="18" charset="0"/>
                <a:cs typeface="Times New Roman" panose="02020603050405020304" pitchFamily="18" charset="0"/>
              </a:rPr>
              <a:t> is a sequence of characters that is treated as a single data item and terminated by null character '\0’.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 string is actually one-dimensional array of characters in C language.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For example:</a:t>
            </a:r>
            <a:r>
              <a:rPr lang="en-IN" sz="2400" dirty="0">
                <a:latin typeface="Times New Roman" panose="02020603050405020304" pitchFamily="18" charset="0"/>
                <a:cs typeface="Times New Roman" panose="02020603050405020304" pitchFamily="18" charset="0"/>
              </a:rPr>
              <a:t> The string "hello world" contains 12 characters including '\0' character which is automatically added by the compiler at the end of the string.</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char str[10];</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a:latin typeface="Times New Roman" panose="02020603050405020304" pitchFamily="18" charset="0"/>
                <a:cs typeface="Times New Roman" panose="02020603050405020304" pitchFamily="18" charset="0"/>
              </a:rPr>
              <a:t>Strings-Declaring and Initializing</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54983" y="1132890"/>
            <a:ext cx="8818535" cy="526297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There are different ways to initialize a character array variable.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char name[6] = “MRECW";  // valid character array initialization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char name[10] = {'</a:t>
            </a:r>
            <a:r>
              <a:rPr lang="en-IN" sz="2400" dirty="0" err="1">
                <a:latin typeface="Times New Roman" panose="02020603050405020304" pitchFamily="18" charset="0"/>
                <a:cs typeface="Times New Roman" panose="02020603050405020304" pitchFamily="18" charset="0"/>
              </a:rPr>
              <a:t>L','e','s','s','o','n','s</a:t>
            </a:r>
            <a:r>
              <a:rPr lang="en-IN" sz="2400" dirty="0">
                <a:latin typeface="Times New Roman" panose="02020603050405020304" pitchFamily="18" charset="0"/>
                <a:cs typeface="Times New Roman" panose="02020603050405020304" pitchFamily="18" charset="0"/>
              </a:rPr>
              <a:t>','\0'};     // valid initialization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Remember that when you initialize a character array by listing all of its characters separately then you must supply the '\0' character explicitly.</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Some examples of illegal initialization of character array are,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char </a:t>
            </a:r>
            <a:r>
              <a:rPr lang="en-IN" sz="2400" dirty="0" err="1">
                <a:latin typeface="Times New Roman" panose="02020603050405020304" pitchFamily="18" charset="0"/>
                <a:cs typeface="Times New Roman" panose="02020603050405020304" pitchFamily="18" charset="0"/>
              </a:rPr>
              <a:t>ch</a:t>
            </a:r>
            <a:r>
              <a:rPr lang="en-IN" sz="2400" dirty="0">
                <a:latin typeface="Times New Roman" panose="02020603050405020304" pitchFamily="18" charset="0"/>
                <a:cs typeface="Times New Roman" panose="02020603050405020304" pitchFamily="18" charset="0"/>
              </a:rPr>
              <a:t>[3] = "hell";    // Illegal</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char str[4];</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str = "hell";   // Illegal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a:latin typeface="Times New Roman" panose="02020603050405020304" pitchFamily="18" charset="0"/>
                <a:cs typeface="Times New Roman" panose="02020603050405020304" pitchFamily="18" charset="0"/>
              </a:rPr>
              <a:t>Strings-Example Program</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54983" y="1132890"/>
            <a:ext cx="8818535" cy="4154984"/>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#include&lt;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string.h</a:t>
            </a:r>
            <a:r>
              <a:rPr lang="en-IN" sz="2400" dirty="0">
                <a:latin typeface="Times New Roman" panose="02020603050405020304" pitchFamily="18" charset="0"/>
                <a:cs typeface="Times New Roman" panose="02020603050405020304" pitchFamily="18" charset="0"/>
              </a:rPr>
              <a:t>&gt;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char name[50];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("Enter your name: ");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gets(name);    //    </a:t>
            </a:r>
            <a:r>
              <a:rPr lang="en-IN" sz="2400" dirty="0" err="1">
                <a:latin typeface="Times New Roman" panose="02020603050405020304" pitchFamily="18" charset="0"/>
                <a:cs typeface="Times New Roman" panose="02020603050405020304" pitchFamily="18" charset="0"/>
              </a:rPr>
              <a:t>scanf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s”,name</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("Your name is: ");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puts(name);  //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s”,name</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a:latin typeface="Times New Roman" panose="02020603050405020304" pitchFamily="18" charset="0"/>
                <a:cs typeface="Times New Roman" panose="02020603050405020304" pitchFamily="18" charset="0"/>
              </a:rPr>
              <a:t>String Handling Functions</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54983" y="1132890"/>
            <a:ext cx="8818535" cy="1200329"/>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C supports a large number of string handling functions in the standard library "</a:t>
            </a:r>
            <a:r>
              <a:rPr lang="en-IN" sz="2400" dirty="0" err="1">
                <a:latin typeface="Times New Roman" panose="02020603050405020304" pitchFamily="18" charset="0"/>
                <a:cs typeface="Times New Roman" panose="02020603050405020304" pitchFamily="18" charset="0"/>
              </a:rPr>
              <a:t>string.h</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Few commonly used string handling functions are :</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nvGraphicFramePr>
        <p:xfrm>
          <a:off x="583795" y="2552069"/>
          <a:ext cx="7976049" cy="4160520"/>
        </p:xfrm>
        <a:graphic>
          <a:graphicData uri="http://schemas.openxmlformats.org/drawingml/2006/table">
            <a:tbl>
              <a:tblPr>
                <a:tableStyleId>{35758FB7-9AC5-4552-8A53-C91805E547FA}</a:tableStyleId>
              </a:tblPr>
              <a:tblGrid>
                <a:gridCol w="1911432"/>
                <a:gridCol w="6064617"/>
              </a:tblGrid>
              <a:tr h="0">
                <a:tc>
                  <a:txBody>
                    <a:bodyPr/>
                    <a:lstStyle/>
                    <a:p>
                      <a:pPr algn="l"/>
                      <a:r>
                        <a:rPr lang="en-IN" sz="2400" b="1" dirty="0">
                          <a:effectLst/>
                          <a:latin typeface="Times New Roman" panose="02020603050405020304" pitchFamily="18" charset="0"/>
                          <a:cs typeface="Times New Roman" panose="02020603050405020304" pitchFamily="18" charset="0"/>
                        </a:rPr>
                        <a:t>Function</a:t>
                      </a:r>
                      <a:endParaRPr lang="en-IN" sz="2400" b="1"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400" b="1" dirty="0">
                          <a:effectLst/>
                          <a:latin typeface="Times New Roman" panose="02020603050405020304" pitchFamily="18" charset="0"/>
                          <a:cs typeface="Times New Roman" panose="02020603050405020304" pitchFamily="18" charset="0"/>
                        </a:rPr>
                        <a:t>Work of Function</a:t>
                      </a:r>
                      <a:endParaRPr lang="en-IN" sz="2400" b="1"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u="none" strike="noStrike" dirty="0" err="1">
                          <a:effectLst/>
                          <a:latin typeface="Times New Roman" panose="02020603050405020304" pitchFamily="18" charset="0"/>
                          <a:cs typeface="Times New Roman" panose="02020603050405020304" pitchFamily="18" charset="0"/>
                          <a:hlinkClick r:id="rId1" tooltip="Strlen()"/>
                        </a:rPr>
                        <a:t>strlen</a:t>
                      </a:r>
                      <a:r>
                        <a:rPr lang="en-IN" sz="2400" u="none" strike="noStrike" dirty="0">
                          <a:effectLst/>
                          <a:latin typeface="Times New Roman" panose="02020603050405020304" pitchFamily="18" charset="0"/>
                          <a:cs typeface="Times New Roman" panose="02020603050405020304" pitchFamily="18" charset="0"/>
                          <a:hlinkClick r:id="rId1" tooltip="Strlen()"/>
                        </a:rPr>
                        <a:t>()</a:t>
                      </a:r>
                      <a:endParaRPr lang="en-IN" sz="2400" u="none"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computes string's length</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u="none" strike="noStrike" dirty="0" err="1">
                          <a:effectLst/>
                          <a:latin typeface="Times New Roman" panose="02020603050405020304" pitchFamily="18" charset="0"/>
                          <a:cs typeface="Times New Roman" panose="02020603050405020304" pitchFamily="18" charset="0"/>
                          <a:hlinkClick r:id="rId2" tooltip="Strcpy()"/>
                        </a:rPr>
                        <a:t>strcpy</a:t>
                      </a:r>
                      <a:r>
                        <a:rPr lang="en-IN" sz="2400" u="none" strike="noStrike" dirty="0">
                          <a:effectLst/>
                          <a:latin typeface="Times New Roman" panose="02020603050405020304" pitchFamily="18" charset="0"/>
                          <a:cs typeface="Times New Roman" panose="02020603050405020304" pitchFamily="18" charset="0"/>
                          <a:hlinkClick r:id="rId2" tooltip="Strcpy()"/>
                        </a:rPr>
                        <a:t>()</a:t>
                      </a:r>
                      <a:endParaRPr lang="en-IN" sz="2400" u="none"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copies a string to another</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u="none" strike="noStrike">
                          <a:effectLst/>
                          <a:latin typeface="Times New Roman" panose="02020603050405020304" pitchFamily="18" charset="0"/>
                          <a:cs typeface="Times New Roman" panose="02020603050405020304" pitchFamily="18" charset="0"/>
                          <a:hlinkClick r:id="rId3" tooltip="Strcat()"/>
                        </a:rPr>
                        <a:t>strcat()</a:t>
                      </a:r>
                      <a:endParaRPr lang="en-IN" sz="2400" u="none">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concatenates(joins) two strings</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u="none" strike="noStrike" dirty="0" err="1">
                          <a:effectLst/>
                          <a:latin typeface="Times New Roman" panose="02020603050405020304" pitchFamily="18" charset="0"/>
                          <a:cs typeface="Times New Roman" panose="02020603050405020304" pitchFamily="18" charset="0"/>
                          <a:hlinkClick r:id="rId4" tooltip="Strcmp()"/>
                        </a:rPr>
                        <a:t>strcmp</a:t>
                      </a:r>
                      <a:r>
                        <a:rPr lang="en-IN" sz="2400" u="none" strike="noStrike" dirty="0">
                          <a:effectLst/>
                          <a:latin typeface="Times New Roman" panose="02020603050405020304" pitchFamily="18" charset="0"/>
                          <a:cs typeface="Times New Roman" panose="02020603050405020304" pitchFamily="18" charset="0"/>
                          <a:hlinkClick r:id="rId4" tooltip="Strcmp()"/>
                        </a:rPr>
                        <a:t>()</a:t>
                      </a:r>
                      <a:endParaRPr lang="en-IN" sz="2400" u="none"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compares two strings</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a:effectLst/>
                          <a:latin typeface="Times New Roman" panose="02020603050405020304" pitchFamily="18" charset="0"/>
                          <a:cs typeface="Times New Roman" panose="02020603050405020304" pitchFamily="18" charset="0"/>
                        </a:rPr>
                        <a:t>strlwr()</a:t>
                      </a:r>
                      <a:endParaRPr lang="en-IN" sz="240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converts string to lowercase</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a:effectLst/>
                          <a:latin typeface="Times New Roman" panose="02020603050405020304" pitchFamily="18" charset="0"/>
                          <a:cs typeface="Times New Roman" panose="02020603050405020304" pitchFamily="18" charset="0"/>
                        </a:rPr>
                        <a:t>strupr()</a:t>
                      </a:r>
                      <a:endParaRPr lang="en-IN" sz="240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converts string to uppercase</a:t>
                      </a:r>
                      <a:endParaRPr lang="en-IN" sz="2400" dirty="0">
                        <a:solidFill>
                          <a:schemeClr val="tx1"/>
                        </a:solidFill>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Strlen</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24401"/>
            <a:ext cx="8818535" cy="5878532"/>
          </a:xfrm>
          <a:prstGeom prst="rect">
            <a:avLst/>
          </a:prstGeom>
        </p:spPr>
        <p:txBody>
          <a:bodyPr wrap="square">
            <a:spAutoFit/>
          </a:bodyPr>
          <a:lstStyle/>
          <a:p>
            <a:pPr algn="just"/>
            <a:r>
              <a:rPr lang="en-IN" sz="2350" dirty="0">
                <a:latin typeface="Times New Roman" panose="02020603050405020304" pitchFamily="18" charset="0"/>
                <a:cs typeface="Times New Roman" panose="02020603050405020304" pitchFamily="18" charset="0"/>
              </a:rPr>
              <a:t>The </a:t>
            </a:r>
            <a:r>
              <a:rPr lang="en-IN" sz="2350" dirty="0" err="1">
                <a:latin typeface="Times New Roman" panose="02020603050405020304" pitchFamily="18" charset="0"/>
                <a:cs typeface="Times New Roman" panose="02020603050405020304" pitchFamily="18" charset="0"/>
              </a:rPr>
              <a:t>strlen</a:t>
            </a:r>
            <a:r>
              <a:rPr lang="en-IN" sz="2350" dirty="0">
                <a:latin typeface="Times New Roman" panose="02020603050405020304" pitchFamily="18" charset="0"/>
                <a:cs typeface="Times New Roman" panose="02020603050405020304" pitchFamily="18" charset="0"/>
              </a:rPr>
              <a:t>() function takes a string as an argument and returns its length.</a:t>
            </a:r>
            <a:endParaRPr lang="en-IN" sz="2350" dirty="0">
              <a:latin typeface="Times New Roman" panose="02020603050405020304" pitchFamily="18" charset="0"/>
              <a:cs typeface="Times New Roman" panose="02020603050405020304" pitchFamily="18" charset="0"/>
            </a:endParaRPr>
          </a:p>
          <a:p>
            <a:pPr algn="just"/>
            <a:r>
              <a:rPr lang="en-IN" sz="2350" b="1" dirty="0">
                <a:latin typeface="Times New Roman" panose="02020603050405020304" pitchFamily="18" charset="0"/>
                <a:cs typeface="Times New Roman" panose="02020603050405020304" pitchFamily="18" charset="0"/>
              </a:rPr>
              <a:t>Example:</a:t>
            </a:r>
            <a:endParaRPr lang="en-IN" sz="2350" b="1"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#include &lt;</a:t>
            </a:r>
            <a:r>
              <a:rPr lang="en-IN" sz="2350" dirty="0" err="1">
                <a:latin typeface="Times New Roman" panose="02020603050405020304" pitchFamily="18" charset="0"/>
                <a:cs typeface="Times New Roman" panose="02020603050405020304" pitchFamily="18" charset="0"/>
              </a:rPr>
              <a:t>stdio.h</a:t>
            </a:r>
            <a:r>
              <a:rPr lang="en-IN" sz="2350" dirty="0">
                <a:latin typeface="Times New Roman" panose="02020603050405020304" pitchFamily="18" charset="0"/>
                <a:cs typeface="Times New Roman" panose="02020603050405020304" pitchFamily="18" charset="0"/>
              </a:rPr>
              <a:t>&gt;</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#include &lt;</a:t>
            </a:r>
            <a:r>
              <a:rPr lang="en-IN" sz="2350" dirty="0" err="1">
                <a:latin typeface="Times New Roman" panose="02020603050405020304" pitchFamily="18" charset="0"/>
                <a:cs typeface="Times New Roman" panose="02020603050405020304" pitchFamily="18" charset="0"/>
              </a:rPr>
              <a:t>string.h</a:t>
            </a:r>
            <a:r>
              <a:rPr lang="en-IN" sz="2350" dirty="0">
                <a:latin typeface="Times New Roman" panose="02020603050405020304" pitchFamily="18" charset="0"/>
                <a:cs typeface="Times New Roman" panose="02020603050405020304" pitchFamily="18" charset="0"/>
              </a:rPr>
              <a:t>&gt;</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int main()</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    char a[20]="Program";</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    char b[20]={'</a:t>
            </a:r>
            <a:r>
              <a:rPr lang="en-IN" sz="2350" dirty="0" err="1">
                <a:latin typeface="Times New Roman" panose="02020603050405020304" pitchFamily="18" charset="0"/>
                <a:cs typeface="Times New Roman" panose="02020603050405020304" pitchFamily="18" charset="0"/>
              </a:rPr>
              <a:t>P','r','o','g','r','a','m</a:t>
            </a:r>
            <a:r>
              <a:rPr lang="en-IN" sz="2350" dirty="0">
                <a:latin typeface="Times New Roman" panose="02020603050405020304" pitchFamily="18" charset="0"/>
                <a:cs typeface="Times New Roman" panose="02020603050405020304" pitchFamily="18" charset="0"/>
              </a:rPr>
              <a:t>','\0'};</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    </a:t>
            </a:r>
            <a:r>
              <a:rPr lang="en-IN" sz="2350" dirty="0" err="1">
                <a:latin typeface="Times New Roman" panose="02020603050405020304" pitchFamily="18" charset="0"/>
                <a:cs typeface="Times New Roman" panose="02020603050405020304" pitchFamily="18" charset="0"/>
              </a:rPr>
              <a:t>printf</a:t>
            </a:r>
            <a:r>
              <a:rPr lang="en-IN" sz="2350" dirty="0">
                <a:latin typeface="Times New Roman" panose="02020603050405020304" pitchFamily="18" charset="0"/>
                <a:cs typeface="Times New Roman" panose="02020603050405020304" pitchFamily="18" charset="0"/>
              </a:rPr>
              <a:t>("Length of string a = %</a:t>
            </a:r>
            <a:r>
              <a:rPr lang="en-IN" sz="2350" dirty="0" err="1">
                <a:latin typeface="Times New Roman" panose="02020603050405020304" pitchFamily="18" charset="0"/>
                <a:cs typeface="Times New Roman" panose="02020603050405020304" pitchFamily="18" charset="0"/>
              </a:rPr>
              <a:t>ld</a:t>
            </a:r>
            <a:r>
              <a:rPr lang="en-IN" sz="2350" dirty="0">
                <a:latin typeface="Times New Roman" panose="02020603050405020304" pitchFamily="18" charset="0"/>
                <a:cs typeface="Times New Roman" panose="02020603050405020304" pitchFamily="18" charset="0"/>
              </a:rPr>
              <a:t> \n",</a:t>
            </a:r>
            <a:r>
              <a:rPr lang="en-IN" sz="2350" dirty="0" err="1">
                <a:latin typeface="Times New Roman" panose="02020603050405020304" pitchFamily="18" charset="0"/>
                <a:cs typeface="Times New Roman" panose="02020603050405020304" pitchFamily="18" charset="0"/>
              </a:rPr>
              <a:t>strlen</a:t>
            </a:r>
            <a:r>
              <a:rPr lang="en-IN" sz="2350" dirty="0">
                <a:latin typeface="Times New Roman" panose="02020603050405020304" pitchFamily="18" charset="0"/>
                <a:cs typeface="Times New Roman" panose="02020603050405020304" pitchFamily="18" charset="0"/>
              </a:rPr>
              <a:t>(a));</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    </a:t>
            </a:r>
            <a:r>
              <a:rPr lang="en-IN" sz="2350" dirty="0" err="1">
                <a:latin typeface="Times New Roman" panose="02020603050405020304" pitchFamily="18" charset="0"/>
                <a:cs typeface="Times New Roman" panose="02020603050405020304" pitchFamily="18" charset="0"/>
              </a:rPr>
              <a:t>printf</a:t>
            </a:r>
            <a:r>
              <a:rPr lang="en-IN" sz="2350" dirty="0">
                <a:latin typeface="Times New Roman" panose="02020603050405020304" pitchFamily="18" charset="0"/>
                <a:cs typeface="Times New Roman" panose="02020603050405020304" pitchFamily="18" charset="0"/>
              </a:rPr>
              <a:t>("Length of string b = %</a:t>
            </a:r>
            <a:r>
              <a:rPr lang="en-IN" sz="2350" dirty="0" err="1">
                <a:latin typeface="Times New Roman" panose="02020603050405020304" pitchFamily="18" charset="0"/>
                <a:cs typeface="Times New Roman" panose="02020603050405020304" pitchFamily="18" charset="0"/>
              </a:rPr>
              <a:t>ld</a:t>
            </a:r>
            <a:r>
              <a:rPr lang="en-IN" sz="2350" dirty="0">
                <a:latin typeface="Times New Roman" panose="02020603050405020304" pitchFamily="18" charset="0"/>
                <a:cs typeface="Times New Roman" panose="02020603050405020304" pitchFamily="18" charset="0"/>
              </a:rPr>
              <a:t> \n",</a:t>
            </a:r>
            <a:r>
              <a:rPr lang="en-IN" sz="2350" dirty="0" err="1">
                <a:latin typeface="Times New Roman" panose="02020603050405020304" pitchFamily="18" charset="0"/>
                <a:cs typeface="Times New Roman" panose="02020603050405020304" pitchFamily="18" charset="0"/>
              </a:rPr>
              <a:t>strlen</a:t>
            </a:r>
            <a:r>
              <a:rPr lang="en-IN" sz="2350" dirty="0">
                <a:latin typeface="Times New Roman" panose="02020603050405020304" pitchFamily="18" charset="0"/>
                <a:cs typeface="Times New Roman" panose="02020603050405020304" pitchFamily="18" charset="0"/>
              </a:rPr>
              <a:t>(b));</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    return 0;</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Output:</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Length of string a = 7</a:t>
            </a:r>
            <a:endParaRPr lang="en-IN" sz="2350" dirty="0">
              <a:latin typeface="Times New Roman" panose="02020603050405020304" pitchFamily="18" charset="0"/>
              <a:cs typeface="Times New Roman" panose="02020603050405020304" pitchFamily="18" charset="0"/>
            </a:endParaRPr>
          </a:p>
          <a:p>
            <a:pPr algn="just"/>
            <a:r>
              <a:rPr lang="en-IN" sz="2350" dirty="0">
                <a:latin typeface="Times New Roman" panose="02020603050405020304" pitchFamily="18" charset="0"/>
                <a:cs typeface="Times New Roman" panose="02020603050405020304" pitchFamily="18" charset="0"/>
              </a:rPr>
              <a:t>Length of string b = 7</a:t>
            </a:r>
            <a:endParaRPr lang="en-IN" sz="2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Strcpy</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55399"/>
            <a:ext cx="8818535" cy="5632311"/>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a:t>
            </a:r>
            <a:r>
              <a:rPr lang="en-IN" sz="2400" b="1" dirty="0" err="1">
                <a:latin typeface="Times New Roman" panose="02020603050405020304" pitchFamily="18" charset="0"/>
                <a:cs typeface="Times New Roman" panose="02020603050405020304" pitchFamily="18" charset="0"/>
              </a:rPr>
              <a:t>strcpy</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function copies the string pointed by source to the destination. The </a:t>
            </a:r>
            <a:r>
              <a:rPr lang="en-IN" sz="2400" dirty="0" err="1">
                <a:latin typeface="Times New Roman" panose="02020603050405020304" pitchFamily="18" charset="0"/>
                <a:cs typeface="Times New Roman" panose="02020603050405020304" pitchFamily="18" charset="0"/>
              </a:rPr>
              <a:t>strcpy</a:t>
            </a:r>
            <a:r>
              <a:rPr lang="en-IN" sz="2400" dirty="0">
                <a:latin typeface="Times New Roman" panose="02020603050405020304" pitchFamily="18" charset="0"/>
                <a:cs typeface="Times New Roman" panose="02020603050405020304" pitchFamily="18" charset="0"/>
              </a:rPr>
              <a:t>() function also returns the copied string.</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Syntax:  </a:t>
            </a:r>
            <a:r>
              <a:rPr lang="en-IN" sz="2400" dirty="0" err="1">
                <a:latin typeface="Times New Roman" panose="02020603050405020304" pitchFamily="18" charset="0"/>
                <a:cs typeface="Times New Roman" panose="02020603050405020304" pitchFamily="18" charset="0"/>
              </a:rPr>
              <a:t>strcpy</a:t>
            </a:r>
            <a:r>
              <a:rPr lang="en-IN" sz="2400" dirty="0">
                <a:latin typeface="Times New Roman" panose="02020603050405020304" pitchFamily="18" charset="0"/>
                <a:cs typeface="Times New Roman" panose="02020603050405020304" pitchFamily="18" charset="0"/>
              </a:rPr>
              <a:t>(destination, source);</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Example:</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#include&lt;</a:t>
            </a:r>
            <a:r>
              <a:rPr lang="en-IN" sz="2400" dirty="0" err="1">
                <a:latin typeface="Times New Roman" panose="02020603050405020304" pitchFamily="18" charset="0"/>
                <a:cs typeface="Times New Roman" panose="02020603050405020304" pitchFamily="18" charset="0"/>
              </a:rPr>
              <a:t>string.h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char s1[50], s2[50];</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strcpy</a:t>
            </a:r>
            <a:r>
              <a:rPr lang="en-IN" sz="2400" dirty="0">
                <a:latin typeface="Times New Roman" panose="02020603050405020304" pitchFamily="18" charset="0"/>
                <a:cs typeface="Times New Roman" panose="02020603050405020304" pitchFamily="18" charset="0"/>
              </a:rPr>
              <a:t>(s1, "Engineering");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strcpy</a:t>
            </a:r>
            <a:r>
              <a:rPr lang="en-IN" sz="2400" dirty="0">
                <a:latin typeface="Times New Roman" panose="02020603050405020304" pitchFamily="18" charset="0"/>
                <a:cs typeface="Times New Roman" panose="02020603050405020304" pitchFamily="18" charset="0"/>
              </a:rPr>
              <a:t>(s2, s1);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("%s\n", s2);</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Output:  Engineering</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Strcat</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70896"/>
            <a:ext cx="8818535" cy="5632311"/>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strcat</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first_string</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second_string</a:t>
            </a:r>
            <a:r>
              <a:rPr lang="en-IN" sz="2400" dirty="0">
                <a:latin typeface="Times New Roman" panose="02020603050405020304" pitchFamily="18" charset="0"/>
                <a:cs typeface="Times New Roman" panose="02020603050405020304" pitchFamily="18" charset="0"/>
              </a:rPr>
              <a:t>) function concatenates two strings and result is returned to </a:t>
            </a:r>
            <a:r>
              <a:rPr lang="en-IN" sz="2400" dirty="0" err="1">
                <a:latin typeface="Times New Roman" panose="02020603050405020304" pitchFamily="18" charset="0"/>
                <a:cs typeface="Times New Roman" panose="02020603050405020304" pitchFamily="18" charset="0"/>
              </a:rPr>
              <a:t>first_string</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string.h</a:t>
            </a:r>
            <a:r>
              <a:rPr lang="en-IN" sz="2400" dirty="0">
                <a:latin typeface="Times New Roman" panose="02020603050405020304" pitchFamily="18" charset="0"/>
                <a:cs typeface="Times New Roman" panose="02020603050405020304" pitchFamily="18" charset="0"/>
              </a:rPr>
              <a:t>&gt;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int main()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char str1[100] = "This is ", str2[] = "</a:t>
            </a:r>
            <a:r>
              <a:rPr lang="en-IN" sz="2400" dirty="0" err="1">
                <a:latin typeface="Times New Roman" panose="02020603050405020304" pitchFamily="18" charset="0"/>
                <a:cs typeface="Times New Roman" panose="02020603050405020304" pitchFamily="18" charset="0"/>
              </a:rPr>
              <a:t>Womens</a:t>
            </a:r>
            <a:r>
              <a:rPr lang="en-IN" sz="2400" dirty="0">
                <a:latin typeface="Times New Roman" panose="02020603050405020304" pitchFamily="18" charset="0"/>
                <a:cs typeface="Times New Roman" panose="02020603050405020304" pitchFamily="18" charset="0"/>
              </a:rPr>
              <a:t> College";</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strcat</a:t>
            </a:r>
            <a:r>
              <a:rPr lang="en-IN" sz="2400" dirty="0">
                <a:latin typeface="Times New Roman" panose="02020603050405020304" pitchFamily="18" charset="0"/>
                <a:cs typeface="Times New Roman" panose="02020603050405020304" pitchFamily="18" charset="0"/>
              </a:rPr>
              <a:t>(str1, str2);</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puts(str1);</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puts(str2);</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return 0;</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Output:</a:t>
            </a:r>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This is </a:t>
            </a:r>
            <a:r>
              <a:rPr lang="en-IN" sz="2400" dirty="0" err="1">
                <a:latin typeface="Times New Roman" panose="02020603050405020304" pitchFamily="18" charset="0"/>
                <a:cs typeface="Times New Roman" panose="02020603050405020304" pitchFamily="18" charset="0"/>
              </a:rPr>
              <a:t>Womens</a:t>
            </a:r>
            <a:r>
              <a:rPr lang="en-IN" sz="2400" dirty="0">
                <a:latin typeface="Times New Roman" panose="02020603050405020304" pitchFamily="18" charset="0"/>
                <a:cs typeface="Times New Roman" panose="02020603050405020304" pitchFamily="18" charset="0"/>
              </a:rPr>
              <a:t> College</a:t>
            </a:r>
            <a:endParaRPr lang="en-IN" sz="2400" dirty="0">
              <a:latin typeface="Times New Roman" panose="02020603050405020304" pitchFamily="18" charset="0"/>
              <a:cs typeface="Times New Roman" panose="02020603050405020304" pitchFamily="18" charset="0"/>
            </a:endParaRPr>
          </a:p>
          <a:p>
            <a:pPr algn="just"/>
            <a:r>
              <a:rPr lang="en-IN" sz="2400" dirty="0" err="1">
                <a:latin typeface="Times New Roman" panose="02020603050405020304" pitchFamily="18" charset="0"/>
                <a:cs typeface="Times New Roman" panose="02020603050405020304" pitchFamily="18" charset="0"/>
              </a:rPr>
              <a:t>Womens</a:t>
            </a:r>
            <a:r>
              <a:rPr lang="en-IN" sz="2400" dirty="0">
                <a:latin typeface="Times New Roman" panose="02020603050405020304" pitchFamily="18" charset="0"/>
                <a:cs typeface="Times New Roman" panose="02020603050405020304" pitchFamily="18" charset="0"/>
              </a:rPr>
              <a:t> College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Strcmp</a:t>
            </a:r>
            <a:r>
              <a:rPr lang="en-IN" sz="4000" b="1" dirty="0">
                <a:latin typeface="Times New Roman" panose="02020603050405020304" pitchFamily="18" charset="0"/>
                <a:cs typeface="Times New Roman" panose="02020603050405020304" pitchFamily="18" charset="0"/>
              </a:rPr>
              <a:t>() </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70897"/>
            <a:ext cx="8818535" cy="2308324"/>
          </a:xfrm>
          <a:prstGeom prst="rect">
            <a:avLst/>
          </a:prstGeom>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strcmp</a:t>
            </a:r>
            <a:r>
              <a:rPr lang="en-IN" sz="2400" dirty="0">
                <a:latin typeface="Times New Roman" panose="02020603050405020304" pitchFamily="18" charset="0"/>
                <a:cs typeface="Times New Roman" panose="02020603050405020304" pitchFamily="18" charset="0"/>
              </a:rPr>
              <a:t>() function takes two strings and returns an integer.</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a:t>
            </a:r>
            <a:r>
              <a:rPr lang="en-IN" sz="2400" dirty="0" err="1">
                <a:latin typeface="Times New Roman" panose="02020603050405020304" pitchFamily="18" charset="0"/>
                <a:cs typeface="Times New Roman" panose="02020603050405020304" pitchFamily="18" charset="0"/>
              </a:rPr>
              <a:t>strcmp</a:t>
            </a:r>
            <a:r>
              <a:rPr lang="en-IN" sz="2400" dirty="0">
                <a:latin typeface="Times New Roman" panose="02020603050405020304" pitchFamily="18" charset="0"/>
                <a:cs typeface="Times New Roman" panose="02020603050405020304" pitchFamily="18" charset="0"/>
              </a:rPr>
              <a:t>() compares two strings character by character.</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the first character of two strings is equal, the next character of two strings are compared. This continues until the corresponding characters of two strings are different or a null character '\0' is reached.</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390066" y="3583983"/>
          <a:ext cx="8363508" cy="3108960"/>
        </p:xfrm>
        <a:graphic>
          <a:graphicData uri="http://schemas.openxmlformats.org/drawingml/2006/table">
            <a:tbl>
              <a:tblPr>
                <a:tableStyleId>{3C2FFA5D-87B4-456A-9821-1D502468CF0F}</a:tableStyleId>
              </a:tblPr>
              <a:tblGrid>
                <a:gridCol w="2329707"/>
                <a:gridCol w="6033801"/>
              </a:tblGrid>
              <a:tr h="0">
                <a:tc>
                  <a:txBody>
                    <a:bodyPr/>
                    <a:lstStyle/>
                    <a:p>
                      <a:pPr algn="l"/>
                      <a:r>
                        <a:rPr lang="en-IN" sz="2400" b="1" dirty="0">
                          <a:effectLst/>
                          <a:latin typeface="Times New Roman" panose="02020603050405020304" pitchFamily="18" charset="0"/>
                          <a:cs typeface="Times New Roman" panose="02020603050405020304" pitchFamily="18" charset="0"/>
                        </a:rPr>
                        <a:t>Return Value</a:t>
                      </a:r>
                      <a:endParaRPr lang="en-IN" sz="2400" b="1"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2400" b="1" dirty="0">
                          <a:effectLst/>
                          <a:latin typeface="Times New Roman" panose="02020603050405020304" pitchFamily="18" charset="0"/>
                          <a:cs typeface="Times New Roman" panose="02020603050405020304" pitchFamily="18" charset="0"/>
                        </a:rPr>
                        <a:t>Remarks</a:t>
                      </a:r>
                      <a:endParaRPr lang="en-IN" sz="2400" b="1"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dirty="0">
                          <a:effectLst/>
                          <a:latin typeface="Times New Roman" panose="02020603050405020304" pitchFamily="18" charset="0"/>
                          <a:cs typeface="Times New Roman" panose="02020603050405020304" pitchFamily="18" charset="0"/>
                        </a:rPr>
                        <a:t>0</a:t>
                      </a:r>
                      <a:endParaRPr lang="en-IN" sz="2400"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if both strings are identical (equal)</a:t>
                      </a:r>
                      <a:endParaRPr lang="en-IN" sz="2400"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a:effectLst/>
                          <a:latin typeface="Times New Roman" panose="02020603050405020304" pitchFamily="18" charset="0"/>
                          <a:cs typeface="Times New Roman" panose="02020603050405020304" pitchFamily="18" charset="0"/>
                        </a:rPr>
                        <a:t>negative</a:t>
                      </a:r>
                      <a:endParaRPr lang="en-IN" sz="240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if the ASCII value of the first unmatched character is less than second.</a:t>
                      </a:r>
                      <a:endParaRPr lang="en-IN" sz="2400"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sz="2400">
                          <a:effectLst/>
                          <a:latin typeface="Times New Roman" panose="02020603050405020304" pitchFamily="18" charset="0"/>
                          <a:cs typeface="Times New Roman" panose="02020603050405020304" pitchFamily="18" charset="0"/>
                        </a:rPr>
                        <a:t>positive integer</a:t>
                      </a:r>
                      <a:endParaRPr lang="en-IN" sz="240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effectLst/>
                          <a:latin typeface="Times New Roman" panose="02020603050405020304" pitchFamily="18" charset="0"/>
                          <a:cs typeface="Times New Roman" panose="02020603050405020304" pitchFamily="18" charset="0"/>
                        </a:rPr>
                        <a:t>if the ASCII value of the first unmatched character is greater than second.</a:t>
                      </a:r>
                      <a:endParaRPr lang="en-IN" sz="2400" dirty="0">
                        <a:effectLst/>
                        <a:latin typeface="Times New Roman" panose="02020603050405020304" pitchFamily="18" charset="0"/>
                        <a:cs typeface="Times New Roman" panose="02020603050405020304" pitchFamily="18" charset="0"/>
                      </a:endParaRPr>
                    </a:p>
                  </a:txBody>
                  <a:tcPr marL="228600" marR="22860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Strcmp</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102578"/>
            <a:ext cx="8818535" cy="5755422"/>
          </a:xfrm>
          <a:prstGeom prst="rect">
            <a:avLst/>
          </a:prstGeom>
        </p:spPr>
        <p:txBody>
          <a:bodyPr wrap="square">
            <a:spAutoFit/>
          </a:bodyPr>
          <a:lstStyle/>
          <a:p>
            <a:pPr algn="just"/>
            <a:r>
              <a:rPr lang="en-IN" sz="2300" dirty="0">
                <a:latin typeface="Times New Roman" panose="02020603050405020304" pitchFamily="18" charset="0"/>
                <a:cs typeface="Times New Roman" panose="02020603050405020304" pitchFamily="18" charset="0"/>
              </a:rPr>
              <a:t>The </a:t>
            </a:r>
            <a:r>
              <a:rPr lang="en-IN" sz="2300" dirty="0" err="1">
                <a:latin typeface="Times New Roman" panose="02020603050405020304" pitchFamily="18" charset="0"/>
                <a:cs typeface="Times New Roman" panose="02020603050405020304" pitchFamily="18" charset="0"/>
              </a:rPr>
              <a:t>strcmp</a:t>
            </a:r>
            <a:r>
              <a:rPr lang="en-IN" sz="2300" dirty="0">
                <a:latin typeface="Times New Roman" panose="02020603050405020304" pitchFamily="18" charset="0"/>
                <a:cs typeface="Times New Roman" panose="02020603050405020304" pitchFamily="18" charset="0"/>
              </a:rPr>
              <a:t>(</a:t>
            </a:r>
            <a:r>
              <a:rPr lang="en-IN" sz="2300" dirty="0" err="1">
                <a:latin typeface="Times New Roman" panose="02020603050405020304" pitchFamily="18" charset="0"/>
                <a:cs typeface="Times New Roman" panose="02020603050405020304" pitchFamily="18" charset="0"/>
              </a:rPr>
              <a:t>first_string</a:t>
            </a:r>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second_string</a:t>
            </a:r>
            <a:r>
              <a:rPr lang="en-IN" sz="2300" dirty="0">
                <a:latin typeface="Times New Roman" panose="02020603050405020304" pitchFamily="18" charset="0"/>
                <a:cs typeface="Times New Roman" panose="02020603050405020304" pitchFamily="18" charset="0"/>
              </a:rPr>
              <a:t>) function compares two string and returns 0 if both strings are equal.</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#include&lt;</a:t>
            </a:r>
            <a:r>
              <a:rPr lang="en-IN" sz="2300" dirty="0" err="1">
                <a:latin typeface="Times New Roman" panose="02020603050405020304" pitchFamily="18" charset="0"/>
                <a:cs typeface="Times New Roman" panose="02020603050405020304" pitchFamily="18" charset="0"/>
              </a:rPr>
              <a:t>stdio.h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 &lt;</a:t>
            </a:r>
            <a:r>
              <a:rPr lang="en-IN" sz="2300" dirty="0" err="1">
                <a:latin typeface="Times New Roman" panose="02020603050405020304" pitchFamily="18" charset="0"/>
                <a:cs typeface="Times New Roman" panose="02020603050405020304" pitchFamily="18" charset="0"/>
              </a:rPr>
              <a:t>string.h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int main(){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char str1[20],str2[20];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1st string: ");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gets(str1);</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2nd string: ");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gets(str2);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if(</a:t>
            </a:r>
            <a:r>
              <a:rPr lang="en-IN" sz="2300" dirty="0" err="1">
                <a:latin typeface="Times New Roman" panose="02020603050405020304" pitchFamily="18" charset="0"/>
                <a:cs typeface="Times New Roman" panose="02020603050405020304" pitchFamily="18" charset="0"/>
              </a:rPr>
              <a:t>strcmp</a:t>
            </a:r>
            <a:r>
              <a:rPr lang="en-IN" sz="2300" dirty="0">
                <a:latin typeface="Times New Roman" panose="02020603050405020304" pitchFamily="18" charset="0"/>
                <a:cs typeface="Times New Roman" panose="02020603050405020304" pitchFamily="18" charset="0"/>
              </a:rPr>
              <a:t>(str1,str2)==0)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("Strings are equal");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else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("Strings are not equal");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return 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Strlwr</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39900"/>
            <a:ext cx="8818535" cy="5755422"/>
          </a:xfrm>
          <a:prstGeom prst="rect">
            <a:avLst/>
          </a:prstGeom>
        </p:spPr>
        <p:txBody>
          <a:bodyPr wrap="square">
            <a:spAutoFit/>
          </a:bodyPr>
          <a:lstStyle/>
          <a:p>
            <a:pPr algn="just"/>
            <a:r>
              <a:rPr lang="en-IN" sz="2300" dirty="0">
                <a:latin typeface="Times New Roman" panose="02020603050405020304" pitchFamily="18" charset="0"/>
                <a:cs typeface="Times New Roman" panose="02020603050405020304" pitchFamily="18" charset="0"/>
              </a:rPr>
              <a:t>The </a:t>
            </a:r>
            <a:r>
              <a:rPr lang="en-IN" sz="2300" b="1" dirty="0" err="1">
                <a:latin typeface="Times New Roman" panose="02020603050405020304" pitchFamily="18" charset="0"/>
                <a:cs typeface="Times New Roman" panose="02020603050405020304" pitchFamily="18" charset="0"/>
              </a:rPr>
              <a:t>strlwr</a:t>
            </a:r>
            <a:r>
              <a:rPr lang="en-IN" sz="2300" b="1" dirty="0">
                <a:latin typeface="Times New Roman" panose="02020603050405020304" pitchFamily="18" charset="0"/>
                <a:cs typeface="Times New Roman" panose="02020603050405020304" pitchFamily="18" charset="0"/>
              </a:rPr>
              <a:t>(string)</a:t>
            </a:r>
            <a:r>
              <a:rPr lang="en-IN" sz="2300" dirty="0">
                <a:latin typeface="Times New Roman" panose="02020603050405020304" pitchFamily="18" charset="0"/>
                <a:cs typeface="Times New Roman" panose="02020603050405020304" pitchFamily="18" charset="0"/>
              </a:rPr>
              <a:t> function returns string characters in lowercase. </a:t>
            </a:r>
            <a:endParaRPr lang="en-IN" sz="2300" dirty="0">
              <a:latin typeface="Times New Roman" panose="02020603050405020304" pitchFamily="18" charset="0"/>
              <a:cs typeface="Times New Roman" panose="02020603050405020304" pitchFamily="18" charset="0"/>
            </a:endParaRPr>
          </a:p>
          <a:p>
            <a:pPr algn="just"/>
            <a:r>
              <a:rPr lang="en-IN" sz="2300" b="1" dirty="0">
                <a:latin typeface="Times New Roman" panose="02020603050405020304" pitchFamily="18" charset="0"/>
                <a:cs typeface="Times New Roman" panose="02020603050405020304" pitchFamily="18" charset="0"/>
              </a:rPr>
              <a:t>Example:</a:t>
            </a:r>
            <a:endParaRPr lang="en-IN" sz="2300" b="1"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#include&lt;</a:t>
            </a:r>
            <a:r>
              <a:rPr lang="en-IN" sz="2300" dirty="0" err="1">
                <a:latin typeface="Times New Roman" panose="02020603050405020304" pitchFamily="18" charset="0"/>
                <a:cs typeface="Times New Roman" panose="02020603050405020304" pitchFamily="18" charset="0"/>
              </a:rPr>
              <a:t>stdio.h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 &lt;</a:t>
            </a:r>
            <a:r>
              <a:rPr lang="en-IN" sz="2300" dirty="0" err="1">
                <a:latin typeface="Times New Roman" panose="02020603050405020304" pitchFamily="18" charset="0"/>
                <a:cs typeface="Times New Roman" panose="02020603050405020304" pitchFamily="18" charset="0"/>
              </a:rPr>
              <a:t>string.h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int main(){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char str[20];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string: ");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gets(str);//reads string from console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("String is: %</a:t>
            </a:r>
            <a:r>
              <a:rPr lang="en-IN" sz="2300" dirty="0" err="1">
                <a:latin typeface="Times New Roman" panose="02020603050405020304" pitchFamily="18" charset="0"/>
                <a:cs typeface="Times New Roman" panose="02020603050405020304" pitchFamily="18" charset="0"/>
              </a:rPr>
              <a:t>s",str</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a:t>
            </a:r>
            <a:r>
              <a:rPr lang="en-IN" sz="2300" dirty="0" err="1">
                <a:latin typeface="Times New Roman" panose="02020603050405020304" pitchFamily="18" charset="0"/>
                <a:cs typeface="Times New Roman" panose="02020603050405020304" pitchFamily="18" charset="0"/>
              </a:rPr>
              <a:t>nLower</a:t>
            </a:r>
            <a:r>
              <a:rPr lang="en-IN" sz="2300" dirty="0">
                <a:latin typeface="Times New Roman" panose="02020603050405020304" pitchFamily="18" charset="0"/>
                <a:cs typeface="Times New Roman" panose="02020603050405020304" pitchFamily="18" charset="0"/>
              </a:rPr>
              <a:t> String is: %s",</a:t>
            </a:r>
            <a:r>
              <a:rPr lang="en-IN" sz="2300" dirty="0" err="1">
                <a:latin typeface="Times New Roman" panose="02020603050405020304" pitchFamily="18" charset="0"/>
                <a:cs typeface="Times New Roman" panose="02020603050405020304" pitchFamily="18" charset="0"/>
              </a:rPr>
              <a:t>strlwr</a:t>
            </a:r>
            <a:r>
              <a:rPr lang="en-IN" sz="2300" dirty="0">
                <a:latin typeface="Times New Roman" panose="02020603050405020304" pitchFamily="18" charset="0"/>
                <a:cs typeface="Times New Roman" panose="02020603050405020304" pitchFamily="18" charset="0"/>
              </a:rPr>
              <a:t>(str));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return 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b="1" dirty="0">
                <a:latin typeface="Times New Roman" panose="02020603050405020304" pitchFamily="18" charset="0"/>
                <a:cs typeface="Times New Roman" panose="02020603050405020304" pitchFamily="18" charset="0"/>
              </a:rPr>
              <a:t>Output:</a:t>
            </a:r>
            <a:endParaRPr lang="en-IN" sz="2300" b="1"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Enter string: </a:t>
            </a:r>
            <a:r>
              <a:rPr lang="en-IN" sz="2300" dirty="0" err="1">
                <a:latin typeface="Times New Roman" panose="02020603050405020304" pitchFamily="18" charset="0"/>
                <a:cs typeface="Times New Roman" panose="02020603050405020304" pitchFamily="18" charset="0"/>
              </a:rPr>
              <a:t>MALLAreddy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String is: </a:t>
            </a:r>
            <a:r>
              <a:rPr lang="en-IN" sz="2300" dirty="0" err="1">
                <a:latin typeface="Times New Roman" panose="02020603050405020304" pitchFamily="18" charset="0"/>
                <a:cs typeface="Times New Roman" panose="02020603050405020304" pitchFamily="18" charset="0"/>
              </a:rPr>
              <a:t>MALLAreddy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Lower String is: </a:t>
            </a:r>
            <a:r>
              <a:rPr lang="en-IN" sz="2300" dirty="0" err="1">
                <a:latin typeface="Times New Roman" panose="02020603050405020304" pitchFamily="18" charset="0"/>
                <a:cs typeface="Times New Roman" panose="02020603050405020304" pitchFamily="18" charset="0"/>
              </a:rPr>
              <a:t>mallareddy</a:t>
            </a:r>
            <a:endParaRPr lang="en-IN"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Strupr</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24402"/>
            <a:ext cx="8818535" cy="5755422"/>
          </a:xfrm>
          <a:prstGeom prst="rect">
            <a:avLst/>
          </a:prstGeom>
        </p:spPr>
        <p:txBody>
          <a:bodyPr wrap="square">
            <a:spAutoFit/>
          </a:bodyPr>
          <a:lstStyle/>
          <a:p>
            <a:pPr algn="just"/>
            <a:r>
              <a:rPr lang="en-IN" sz="2300" dirty="0">
                <a:latin typeface="Times New Roman" panose="02020603050405020304" pitchFamily="18" charset="0"/>
                <a:cs typeface="Times New Roman" panose="02020603050405020304" pitchFamily="18" charset="0"/>
              </a:rPr>
              <a:t>The </a:t>
            </a:r>
            <a:r>
              <a:rPr lang="en-IN" sz="2300" dirty="0" err="1">
                <a:latin typeface="Times New Roman" panose="02020603050405020304" pitchFamily="18" charset="0"/>
                <a:cs typeface="Times New Roman" panose="02020603050405020304" pitchFamily="18" charset="0"/>
              </a:rPr>
              <a:t>strupr</a:t>
            </a:r>
            <a:r>
              <a:rPr lang="en-IN" sz="2300" dirty="0">
                <a:latin typeface="Times New Roman" panose="02020603050405020304" pitchFamily="18" charset="0"/>
                <a:cs typeface="Times New Roman" panose="02020603050405020304" pitchFamily="18" charset="0"/>
              </a:rPr>
              <a:t>(string) function returns string characters in uppercase.</a:t>
            </a:r>
            <a:endParaRPr lang="en-IN" sz="2300" dirty="0">
              <a:latin typeface="Times New Roman" panose="02020603050405020304" pitchFamily="18" charset="0"/>
              <a:cs typeface="Times New Roman" panose="02020603050405020304" pitchFamily="18" charset="0"/>
            </a:endParaRPr>
          </a:p>
          <a:p>
            <a:pPr algn="just"/>
            <a:r>
              <a:rPr lang="en-IN" sz="2300" b="1" dirty="0">
                <a:latin typeface="Times New Roman" panose="02020603050405020304" pitchFamily="18" charset="0"/>
                <a:cs typeface="Times New Roman" panose="02020603050405020304" pitchFamily="18" charset="0"/>
              </a:rPr>
              <a:t>Example:</a:t>
            </a:r>
            <a:endParaRPr lang="en-IN" sz="2300" b="1"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#include&lt;</a:t>
            </a:r>
            <a:r>
              <a:rPr lang="en-IN" sz="2300" dirty="0" err="1">
                <a:latin typeface="Times New Roman" panose="02020603050405020304" pitchFamily="18" charset="0"/>
                <a:cs typeface="Times New Roman" panose="02020603050405020304" pitchFamily="18" charset="0"/>
              </a:rPr>
              <a:t>stdio.h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 &lt;</a:t>
            </a:r>
            <a:r>
              <a:rPr lang="en-IN" sz="2300" dirty="0" err="1">
                <a:latin typeface="Times New Roman" panose="02020603050405020304" pitchFamily="18" charset="0"/>
                <a:cs typeface="Times New Roman" panose="02020603050405020304" pitchFamily="18" charset="0"/>
              </a:rPr>
              <a:t>string.h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int main(){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char str[20];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string: ");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gets(str);//reads string from console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("String is: %</a:t>
            </a:r>
            <a:r>
              <a:rPr lang="en-IN" sz="2300" dirty="0" err="1">
                <a:latin typeface="Times New Roman" panose="02020603050405020304" pitchFamily="18" charset="0"/>
                <a:cs typeface="Times New Roman" panose="02020603050405020304" pitchFamily="18" charset="0"/>
              </a:rPr>
              <a:t>s",str</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a:t>
            </a:r>
            <a:r>
              <a:rPr lang="en-IN" sz="2300" dirty="0" err="1">
                <a:latin typeface="Times New Roman" panose="02020603050405020304" pitchFamily="18" charset="0"/>
                <a:cs typeface="Times New Roman" panose="02020603050405020304" pitchFamily="18" charset="0"/>
              </a:rPr>
              <a:t>nUpper</a:t>
            </a:r>
            <a:r>
              <a:rPr lang="en-IN" sz="2300" dirty="0">
                <a:latin typeface="Times New Roman" panose="02020603050405020304" pitchFamily="18" charset="0"/>
                <a:cs typeface="Times New Roman" panose="02020603050405020304" pitchFamily="18" charset="0"/>
              </a:rPr>
              <a:t> String is: %s",</a:t>
            </a:r>
            <a:r>
              <a:rPr lang="en-IN" sz="2300" dirty="0" err="1">
                <a:latin typeface="Times New Roman" panose="02020603050405020304" pitchFamily="18" charset="0"/>
                <a:cs typeface="Times New Roman" panose="02020603050405020304" pitchFamily="18" charset="0"/>
              </a:rPr>
              <a:t>strupr</a:t>
            </a:r>
            <a:r>
              <a:rPr lang="en-IN" sz="2300" dirty="0">
                <a:latin typeface="Times New Roman" panose="02020603050405020304" pitchFamily="18" charset="0"/>
                <a:cs typeface="Times New Roman" panose="02020603050405020304" pitchFamily="18" charset="0"/>
              </a:rPr>
              <a:t>(str));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return 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Output:</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Enter string: </a:t>
            </a:r>
            <a:r>
              <a:rPr lang="en-IN" sz="2300" dirty="0" err="1">
                <a:latin typeface="Times New Roman" panose="02020603050405020304" pitchFamily="18" charset="0"/>
                <a:cs typeface="Times New Roman" panose="02020603050405020304" pitchFamily="18" charset="0"/>
              </a:rPr>
              <a:t>mallareddy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String is: </a:t>
            </a:r>
            <a:r>
              <a:rPr lang="en-IN" sz="2300" dirty="0" err="1">
                <a:latin typeface="Times New Roman" panose="02020603050405020304" pitchFamily="18" charset="0"/>
                <a:cs typeface="Times New Roman" panose="02020603050405020304" pitchFamily="18" charset="0"/>
              </a:rPr>
              <a:t>mallareddy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Upper String is: MALLAREDDY</a:t>
            </a:r>
            <a:endParaRPr lang="en-IN"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3"/>
          <p:cNvSpPr/>
          <p:nvPr/>
        </p:nvSpPr>
        <p:spPr>
          <a:xfrm>
            <a:off x="0" y="0"/>
            <a:ext cx="9143640" cy="914040"/>
          </a:xfrm>
          <a:prstGeom prst="rect">
            <a:avLst/>
          </a:prstGeom>
          <a:solidFill>
            <a:srgbClr val="FFFF66"/>
          </a:solidFill>
          <a:ln w="9360">
            <a:solidFill>
              <a:srgbClr val="000000"/>
            </a:solidFill>
            <a:miter/>
          </a:ln>
        </p:spPr>
        <p:txBody>
          <a:bodyPr wrap="none" lIns="90000" tIns="45000" rIns="90000" bIns="45000" anchor="ctr"/>
          <a:lstStyle/>
          <a:p>
            <a:pPr algn="ctr"/>
            <a:r>
              <a:rPr lang="en-IN" sz="4000" b="1" dirty="0" err="1">
                <a:latin typeface="Times New Roman" panose="02020603050405020304" pitchFamily="18" charset="0"/>
                <a:cs typeface="Times New Roman" panose="02020603050405020304" pitchFamily="18" charset="0"/>
              </a:rPr>
              <a:t>Strrev</a:t>
            </a:r>
            <a:r>
              <a:rPr lang="en-IN" sz="4000" b="1" dirty="0">
                <a:latin typeface="Times New Roman" panose="02020603050405020304" pitchFamily="18" charset="0"/>
                <a:cs typeface="Times New Roman" panose="02020603050405020304" pitchFamily="18" charset="0"/>
              </a:rPr>
              <a:t>() Example</a:t>
            </a:r>
            <a:endParaRPr lang="en-IN" sz="4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62552" y="1024402"/>
            <a:ext cx="8818535" cy="5755422"/>
          </a:xfrm>
          <a:prstGeom prst="rect">
            <a:avLst/>
          </a:prstGeom>
        </p:spPr>
        <p:txBody>
          <a:bodyPr wrap="square">
            <a:spAutoFit/>
          </a:bodyPr>
          <a:lstStyle/>
          <a:p>
            <a:pPr algn="just"/>
            <a:r>
              <a:rPr lang="en-IN" sz="2300" dirty="0">
                <a:latin typeface="Times New Roman" panose="02020603050405020304" pitchFamily="18" charset="0"/>
                <a:cs typeface="Times New Roman" panose="02020603050405020304" pitchFamily="18" charset="0"/>
              </a:rPr>
              <a:t>The </a:t>
            </a:r>
            <a:r>
              <a:rPr lang="en-IN" sz="2300" dirty="0" err="1">
                <a:latin typeface="Times New Roman" panose="02020603050405020304" pitchFamily="18" charset="0"/>
                <a:cs typeface="Times New Roman" panose="02020603050405020304" pitchFamily="18" charset="0"/>
              </a:rPr>
              <a:t>strrev</a:t>
            </a:r>
            <a:r>
              <a:rPr lang="en-IN" sz="2300" dirty="0">
                <a:latin typeface="Times New Roman" panose="02020603050405020304" pitchFamily="18" charset="0"/>
                <a:cs typeface="Times New Roman" panose="02020603050405020304" pitchFamily="18" charset="0"/>
              </a:rPr>
              <a:t>(string) function returns reverse of the given string.</a:t>
            </a:r>
            <a:endParaRPr lang="en-IN" sz="2300" dirty="0">
              <a:latin typeface="Times New Roman" panose="02020603050405020304" pitchFamily="18" charset="0"/>
              <a:cs typeface="Times New Roman" panose="02020603050405020304" pitchFamily="18" charset="0"/>
            </a:endParaRPr>
          </a:p>
          <a:p>
            <a:pPr algn="just"/>
            <a:r>
              <a:rPr lang="en-IN" sz="2300" b="1" dirty="0">
                <a:latin typeface="Times New Roman" panose="02020603050405020304" pitchFamily="18" charset="0"/>
                <a:cs typeface="Times New Roman" panose="02020603050405020304" pitchFamily="18" charset="0"/>
              </a:rPr>
              <a:t>Example:</a:t>
            </a:r>
            <a:endParaRPr lang="en-IN" sz="2300" b="1"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#include&lt;</a:t>
            </a:r>
            <a:r>
              <a:rPr lang="en-IN" sz="2300" dirty="0" err="1">
                <a:latin typeface="Times New Roman" panose="02020603050405020304" pitchFamily="18" charset="0"/>
                <a:cs typeface="Times New Roman" panose="02020603050405020304" pitchFamily="18" charset="0"/>
              </a:rPr>
              <a:t>stdio.h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#include &lt;</a:t>
            </a:r>
            <a:r>
              <a:rPr lang="en-IN" sz="2300" dirty="0" err="1">
                <a:latin typeface="Times New Roman" panose="02020603050405020304" pitchFamily="18" charset="0"/>
                <a:cs typeface="Times New Roman" panose="02020603050405020304" pitchFamily="18" charset="0"/>
              </a:rPr>
              <a:t>string.h</a:t>
            </a:r>
            <a:r>
              <a:rPr lang="en-IN" sz="2300" dirty="0">
                <a:latin typeface="Times New Roman" panose="02020603050405020304" pitchFamily="18" charset="0"/>
                <a:cs typeface="Times New Roman" panose="02020603050405020304" pitchFamily="18" charset="0"/>
              </a:rPr>
              <a:t>&gt;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int main(){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char str[20];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("Enter string: ");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gets(str);//reads string from console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("String is: %</a:t>
            </a:r>
            <a:r>
              <a:rPr lang="en-IN" sz="2300" dirty="0" err="1">
                <a:latin typeface="Times New Roman" panose="02020603050405020304" pitchFamily="18" charset="0"/>
                <a:cs typeface="Times New Roman" panose="02020603050405020304" pitchFamily="18" charset="0"/>
              </a:rPr>
              <a:t>s",str</a:t>
            </a:r>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r>
              <a:rPr lang="en-IN" sz="2300" dirty="0" err="1">
                <a:latin typeface="Times New Roman" panose="02020603050405020304" pitchFamily="18" charset="0"/>
                <a:cs typeface="Times New Roman" panose="02020603050405020304" pitchFamily="18" charset="0"/>
              </a:rPr>
              <a:t>printf</a:t>
            </a:r>
            <a:r>
              <a:rPr lang="en-IN" sz="2300" dirty="0">
                <a:latin typeface="Times New Roman" panose="02020603050405020304" pitchFamily="18" charset="0"/>
                <a:cs typeface="Times New Roman" panose="02020603050405020304" pitchFamily="18" charset="0"/>
              </a:rPr>
              <a:t>("\</a:t>
            </a:r>
            <a:r>
              <a:rPr lang="en-IN" sz="2300" dirty="0" err="1">
                <a:latin typeface="Times New Roman" panose="02020603050405020304" pitchFamily="18" charset="0"/>
                <a:cs typeface="Times New Roman" panose="02020603050405020304" pitchFamily="18" charset="0"/>
              </a:rPr>
              <a:t>nReverse</a:t>
            </a:r>
            <a:r>
              <a:rPr lang="en-IN" sz="2300" dirty="0">
                <a:latin typeface="Times New Roman" panose="02020603050405020304" pitchFamily="18" charset="0"/>
                <a:cs typeface="Times New Roman" panose="02020603050405020304" pitchFamily="18" charset="0"/>
              </a:rPr>
              <a:t> String is: %s",</a:t>
            </a:r>
            <a:r>
              <a:rPr lang="en-IN" sz="2300" dirty="0" err="1">
                <a:latin typeface="Times New Roman" panose="02020603050405020304" pitchFamily="18" charset="0"/>
                <a:cs typeface="Times New Roman" panose="02020603050405020304" pitchFamily="18" charset="0"/>
              </a:rPr>
              <a:t>strrev</a:t>
            </a:r>
            <a:r>
              <a:rPr lang="en-IN" sz="2300" dirty="0">
                <a:latin typeface="Times New Roman" panose="02020603050405020304" pitchFamily="18" charset="0"/>
                <a:cs typeface="Times New Roman" panose="02020603050405020304" pitchFamily="18" charset="0"/>
              </a:rPr>
              <a:t>(str));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return 0;    </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a:p>
            <a:pPr algn="just"/>
            <a:r>
              <a:rPr lang="en-IN" sz="2300" b="1" dirty="0">
                <a:latin typeface="Times New Roman" panose="02020603050405020304" pitchFamily="18" charset="0"/>
                <a:cs typeface="Times New Roman" panose="02020603050405020304" pitchFamily="18" charset="0"/>
              </a:rPr>
              <a:t>Output:</a:t>
            </a:r>
            <a:endParaRPr lang="en-IN" sz="2300" b="1"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Enter string: destiny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String is: destiny</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Reverse String is: </a:t>
            </a:r>
            <a:r>
              <a:rPr lang="en-IN" sz="2300" dirty="0" err="1">
                <a:latin typeface="Times New Roman" panose="02020603050405020304" pitchFamily="18" charset="0"/>
                <a:cs typeface="Times New Roman" panose="02020603050405020304" pitchFamily="18" charset="0"/>
              </a:rPr>
              <a:t>ynitsed</a:t>
            </a:r>
            <a:endParaRPr lang="en-IN" sz="23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17838</Words>
  <Application>WPS Presentation</Application>
  <PresentationFormat>On-screen Show (4:3)</PresentationFormat>
  <Paragraphs>812</Paragraphs>
  <Slides>57</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57</vt:i4>
      </vt:variant>
    </vt:vector>
  </HeadingPairs>
  <TitlesOfParts>
    <vt:vector size="69" baseType="lpstr">
      <vt:lpstr>Arial</vt:lpstr>
      <vt:lpstr>SimSun</vt:lpstr>
      <vt:lpstr>Wingdings</vt:lpstr>
      <vt:lpstr>Franklin Gothic Book</vt:lpstr>
      <vt:lpstr>Times New Roman</vt:lpstr>
      <vt:lpstr>Calibri</vt:lpstr>
      <vt:lpstr>Microsoft YaHei</vt:lpstr>
      <vt:lpstr>Arial Unicode MS</vt:lpstr>
      <vt:lpstr>Calibri Light</vt:lpstr>
      <vt:lpstr>Times New Roman</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Madan Reddy</dc:creator>
  <cp:lastModifiedBy>Dr.N.Vinaya kumari</cp:lastModifiedBy>
  <cp:revision>108</cp:revision>
  <dcterms:created xsi:type="dcterms:W3CDTF">2020-04-08T16:23:00Z</dcterms:created>
  <dcterms:modified xsi:type="dcterms:W3CDTF">2024-08-10T09:05:16Z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5A2A4C117B14455EB6B5E9B37F9AD796_12</vt:lpwstr>
  </property>
  <property fmtid="{D5CDD505-2E9C-101B-9397-08002B2CF9AE}" pid="3" name="KSOProductBuildVer">
    <vt:lpwstr>1033-12.2.0.17545</vt:lpwstr>
  </property>
</Properties>
</file>